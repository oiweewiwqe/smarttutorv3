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5" r:id="rId1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9EDBBD9-A851-42BB-B8A2-D05B5AE23E73}" v="50" dt="2026-01-28T13:05:55.26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82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31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30F8CF-692C-4963-8B5E-D1C0928CF1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29612" y="1013984"/>
            <a:ext cx="7714388" cy="3260635"/>
          </a:xfrm>
        </p:spPr>
        <p:txBody>
          <a:bodyPr anchor="b"/>
          <a:lstStyle>
            <a:lvl1pPr algn="l"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F419655-1613-4CC0-BBE9-BD2CB2C3C7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29612" y="4848464"/>
            <a:ext cx="7714388" cy="1085849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267FFF-6BC4-4DF0-BC55-B2C3BFD8ED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270120-CDFC-48DE-A6EA-6DEEDD0E436A}" type="datetimeFigureOut">
              <a:rPr lang="en-US" dirty="0"/>
              <a:t>1/28/2026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389830-A1B7-484B-832C-F64A558BDF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A8F727-72C8-47A9-8E54-AD84590286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EED5540-64E5-4258-ABA4-753F07B71B38}"/>
              </a:ext>
            </a:extLst>
          </p:cNvPr>
          <p:cNvCxnSpPr>
            <a:cxnSpLocks/>
          </p:cNvCxnSpPr>
          <p:nvPr/>
        </p:nvCxnSpPr>
        <p:spPr>
          <a:xfrm>
            <a:off x="1524000" y="4571506"/>
            <a:ext cx="971155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460801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3EF94C-BCB1-4F4C-AF70-DD2A5C4E33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9566" y="1045445"/>
            <a:ext cx="9238434" cy="857559"/>
          </a:xfrm>
        </p:spPr>
        <p:txBody>
          <a:bodyPr anchor="b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909B75-A057-44B5-872F-DF01BDC8EA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29566" y="2286000"/>
            <a:ext cx="9238434" cy="3810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06260C-3219-4812-88F2-3162D37F29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9FAAF-C467-4C93-8ECD-39AF5A14D498}" type="datetimeFigureOut">
              <a:rPr lang="en-US" dirty="0"/>
              <a:t>1/28/2026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762B73-9C01-4BE3-A199-782BE6EBA6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761492-EB56-4454-9D2A-8BB94AACB8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21034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980A128-A52A-402C-865B-1BF08D7F045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E900447-3778-4AB7-ACB3-7C2313FE9A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1745" y="1287554"/>
            <a:ext cx="8284963" cy="3113064"/>
          </a:xfrm>
        </p:spPr>
        <p:txBody>
          <a:bodyPr anchor="t"/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B910C9-BA3C-4D31-9C62-2C2408591F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21744" y="4619707"/>
            <a:ext cx="7722256" cy="1476293"/>
          </a:xfrm>
        </p:spPr>
        <p:txBody>
          <a:bodyPr anchor="b">
            <a:normAutofit/>
          </a:bodyPr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742E8A-6B69-406B-A3DF-0A1B76832E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7E480-B2BA-4553-A144-61E7F75833ED}" type="datetimeFigureOut">
              <a:rPr lang="en-US" dirty="0"/>
              <a:t>1/28/2026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D665CF-4461-4BB8-8F3A-ED1CB1084C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898B27-5EF3-49F4-B3CE-F3CF419AE0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42821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33F3BA-5AD5-4F15-97B2-E4652D1D4E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9566" y="1013411"/>
            <a:ext cx="9238434" cy="88959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A997B8-1FD3-40E6-A486-256EB41DB70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429566" y="2135565"/>
            <a:ext cx="4495800" cy="396043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83F4D8-AA9A-4AF7-86EA-E4D797B98C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135565"/>
            <a:ext cx="4495800" cy="396043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08823E-BC08-4810-9BFF-35D2EA2AE7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0E682A-6B53-4B08-AE4D-4C5E659103CC}" type="datetimeFigureOut">
              <a:rPr lang="en-US" dirty="0"/>
              <a:t>1/28/2026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DD2BFB-BB2C-4C4A-A6E1-DD223C2BE0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D369B2-12F8-4583-8A7F-523C9A3EF0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0507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AC717F-84B9-44BA-8DD6-680394AB19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9566" y="1079150"/>
            <a:ext cx="9238434" cy="82391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1217D6-7448-4625-964F-5D82F65F11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29567" y="2013217"/>
            <a:ext cx="4495799" cy="704232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800" b="0" cap="all" spc="300" baseline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53A534C-0B54-4327-99C0-4F0019FD21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429567" y="3048000"/>
            <a:ext cx="4495800" cy="3048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89D4A63-0795-4B74-8C11-5FE7944118C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2013215"/>
            <a:ext cx="4495800" cy="70423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800" b="0" cap="all" spc="300" baseline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23D16F3-F747-441B-9854-27225954DEC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3048000"/>
            <a:ext cx="4495800" cy="3048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E8168E2-6B97-486E-B0E4-4E7F5CDBB5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9F0F6-BEBB-4894-ABB2-75C5CBE0DDB9}" type="datetimeFigureOut">
              <a:rPr lang="en-US" dirty="0"/>
              <a:t>1/28/2026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05D3E2B-2F4E-4347-A8E9-27EB7D0359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C1FC4F5-6876-414E-9E30-84706A3F52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70D2F04-5474-46B9-B838-858CDF4AB2D2}"/>
              </a:ext>
            </a:extLst>
          </p:cNvPr>
          <p:cNvCxnSpPr>
            <a:cxnSpLocks/>
          </p:cNvCxnSpPr>
          <p:nvPr/>
        </p:nvCxnSpPr>
        <p:spPr>
          <a:xfrm>
            <a:off x="6270727" y="2876662"/>
            <a:ext cx="971155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CADEE893-BE45-47F3-BCF0-02424B3503CC}"/>
              </a:ext>
            </a:extLst>
          </p:cNvPr>
          <p:cNvSpPr/>
          <p:nvPr/>
        </p:nvSpPr>
        <p:spPr>
          <a:xfrm>
            <a:off x="-1171838" y="4592406"/>
            <a:ext cx="808262" cy="38971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FB5178A-4501-4B56-8BF1-D083D7B021CE}"/>
              </a:ext>
            </a:extLst>
          </p:cNvPr>
          <p:cNvCxnSpPr>
            <a:cxnSpLocks/>
          </p:cNvCxnSpPr>
          <p:nvPr/>
        </p:nvCxnSpPr>
        <p:spPr>
          <a:xfrm>
            <a:off x="1524000" y="2876662"/>
            <a:ext cx="971155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855225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52109C6-041C-42BA-B507-8EA298046ED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F7BF877-20DD-40F4-AEA8-E1B6D5350D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67DC874-15B5-4338-B7D1-8E393AB4C1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E9E5F-17D9-4A30-9DA3-64E46A6DF111}" type="datetimeFigureOut">
              <a:rPr lang="en-US" dirty="0"/>
              <a:t>1/28/2026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66BAE3-24C5-483F-9141-D860A265E7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9AEEB4-66F8-4008-B616-804FB9D91C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76351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746C975-8FFB-4A4B-9213-774EE3901D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AC5F0-3BC3-4718-BCCA-24B5655EC864}" type="datetimeFigureOut">
              <a:rPr lang="en-US" dirty="0"/>
              <a:t>1/28/2026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FBA744F-475D-4105-8E4A-0258155495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3FA64C-7966-4D6F-88D7-4B89F2A1DF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73748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D4ED5F-AB94-4DCF-8971-B8B2B55AF6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3740" y="1558944"/>
            <a:ext cx="3279689" cy="1864196"/>
          </a:xfrm>
        </p:spPr>
        <p:txBody>
          <a:bodyPr anchor="b"/>
          <a:lstStyle>
            <a:lvl1pPr algn="r"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1EE4CB-68CF-4BF3-A891-8277AFD13D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4000" y="762000"/>
            <a:ext cx="5333999" cy="5334000"/>
          </a:xfrm>
        </p:spPr>
        <p:txBody>
          <a:bodyPr anchor="ctr">
            <a:normAutofit/>
          </a:bodyPr>
          <a:lstStyle>
            <a:lvl1pPr>
              <a:defRPr sz="2800">
                <a:solidFill>
                  <a:schemeClr val="tx1"/>
                </a:solidFill>
              </a:defRPr>
            </a:lvl1pPr>
            <a:lvl2pPr>
              <a:defRPr sz="2400">
                <a:solidFill>
                  <a:schemeClr val="tx1"/>
                </a:solidFill>
              </a:defRPr>
            </a:lvl2pPr>
            <a:lvl3pPr>
              <a:defRPr sz="2000">
                <a:solidFill>
                  <a:schemeClr val="tx1"/>
                </a:solidFill>
              </a:defRPr>
            </a:lvl3pPr>
            <a:lvl4pPr>
              <a:defRPr sz="1800">
                <a:solidFill>
                  <a:schemeClr val="tx1"/>
                </a:solidFill>
              </a:defRPr>
            </a:lvl4pPr>
            <a:lvl5pPr>
              <a:defRPr sz="1800">
                <a:solidFill>
                  <a:schemeClr val="tx1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292E72-B66D-40EE-B182-5585382A6D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443741" y="3649682"/>
            <a:ext cx="3233096" cy="1933605"/>
          </a:xfrm>
        </p:spPr>
        <p:txBody>
          <a:bodyPr/>
          <a:lstStyle>
            <a:lvl1pPr marL="0" indent="0" algn="r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73B694-B050-45F3-AE6F-A86A129F1C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B8BD81-465B-40F2-9A54-9DF3B12AF598}" type="datetimeFigureOut">
              <a:rPr lang="en-US" dirty="0"/>
              <a:t>1/28/2026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8AE423-9CA5-46B3-96B1-7586AD0208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4B973D-F1F7-47BC-996D-6100B7C895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08047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AE9949-4A1F-4DA9-9B75-A6180F954B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3543" y="1383126"/>
            <a:ext cx="3289886" cy="2045874"/>
          </a:xfrm>
        </p:spPr>
        <p:txBody>
          <a:bodyPr anchor="b"/>
          <a:lstStyle>
            <a:lvl1pPr algn="r"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9A8D794-C670-4569-93D9-0FF8B35AA7AE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334001" y="762000"/>
            <a:ext cx="5333999" cy="5334000"/>
          </a:xfrm>
        </p:spPr>
        <p:txBody>
          <a:bodyPr anchor="t"/>
          <a:lstStyle>
            <a:lvl1pPr marL="0" indent="0">
              <a:buNone/>
              <a:defRPr sz="32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2486F6-AE67-4B34-B8E2-0B7576DC2E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433544" y="3649682"/>
            <a:ext cx="3243292" cy="1684317"/>
          </a:xfrm>
        </p:spPr>
        <p:txBody>
          <a:bodyPr/>
          <a:lstStyle>
            <a:lvl1pPr marL="0" indent="0" algn="r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98B11C-BB63-49A6-B488-29D4FBF8E1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4B3CEF-64EF-4C43-9530-8E9CBFD2CAD1}" type="datetimeFigureOut">
              <a:rPr lang="en-US" dirty="0"/>
              <a:t>1/28/2026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4B9166-6D36-4F0A-9ADD-33D49A0C3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B22B8F-7760-41B3-9053-DD90255B9E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08434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C8A5DE-E5C6-4DB9-AD28-8F1EAC6F55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63E08E-9B2D-4740-9AC6-D5E1CFB95F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429566" y="2229957"/>
            <a:ext cx="9238434" cy="3866043"/>
          </a:xfrm>
        </p:spPr>
        <p:txBody>
          <a:bodyPr vert="eaVert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4E3736-E8AA-4F58-9D3A-27050B287F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F5BA7-0A17-4D30-9B66-E29324151C73}" type="datetimeFigureOut">
              <a:rPr lang="en-US" dirty="0"/>
              <a:t>1/28/2026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E95E84-15BC-478B-9DAB-15025867BB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E9D98F-E0A8-4254-A957-7F17811D01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17556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7DE70F5-2276-4F91-9FC2-8DA4B528814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144000" y="1467699"/>
            <a:ext cx="1758461" cy="4628301"/>
          </a:xfrm>
        </p:spPr>
        <p:txBody>
          <a:bodyPr vert="eaVert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21856C5-C2FD-45E4-A631-AC06B5495B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182312" y="1467699"/>
            <a:ext cx="7839379" cy="4628301"/>
          </a:xfrm>
        </p:spPr>
        <p:txBody>
          <a:bodyPr vert="eaVert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E336EA-B6DD-4115-9C67-79A24C866E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BEBB1B-D40A-4DB9-B3DE-BAAE675B83CD}" type="datetimeFigureOut">
              <a:rPr lang="en-US" dirty="0"/>
              <a:t>1/28/2026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EA668B-1DAB-449C-9BA4-7B1572A22B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C6567E-119D-4C98-93FF-73A332803A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56981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F84152A-7FE0-4708-B7C1-DBEC8F1337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9566" y="1041621"/>
            <a:ext cx="9238434" cy="86138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11AB53-BAF9-439D-9451-47193CF2FF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29566" y="2285999"/>
            <a:ext cx="9238434" cy="38100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B96D9F-562A-496F-A530-A561994DC5E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471087" y="4891318"/>
            <a:ext cx="267329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00" b="1" cap="all" spc="300" baseline="0">
                <a:solidFill>
                  <a:schemeClr val="tx1"/>
                </a:solidFill>
              </a:defRPr>
            </a:lvl1pPr>
          </a:lstStyle>
          <a:p>
            <a:fld id="{B70A3DFD-A535-46B2-84C1-61DC8B16A904}" type="datetimeFigureOut">
              <a:rPr lang="en-US" dirty="0"/>
              <a:t>1/28/2026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3060FE-AAC3-4FAE-9EB4-BCAE72D9567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473021" y="1609893"/>
            <a:ext cx="26694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00" b="1" cap="all" spc="3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77EDB2-8F31-42FA-B253-62D2414663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2908" y="3219853"/>
            <a:ext cx="629653" cy="42983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 b="1">
                <a:solidFill>
                  <a:schemeClr val="tx1">
                    <a:tint val="75000"/>
                  </a:schemeClr>
                </a:solidFill>
                <a:latin typeface="+mj-lt"/>
              </a:defRPr>
            </a:lvl1pPr>
          </a:lstStyle>
          <a:p>
            <a:fld id="{196A61CA-0502-4EE4-9724-96EA822543E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46441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defTabSz="914400" rtl="0" eaLnBrk="1" latinLnBrk="0" hangingPunct="1">
        <a:lnSpc>
          <a:spcPct val="120000"/>
        </a:lnSpc>
        <a:spcBef>
          <a:spcPct val="0"/>
        </a:spcBef>
        <a:buNone/>
        <a:defRPr sz="2800" b="1" kern="1200" cap="all" spc="6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4320" indent="-274320" algn="l" defTabSz="914400" rtl="0" eaLnBrk="1" latinLnBrk="0" hangingPunct="1">
        <a:lnSpc>
          <a:spcPct val="130000"/>
        </a:lnSpc>
        <a:spcBef>
          <a:spcPts val="1000"/>
        </a:spcBef>
        <a:buSzPct val="8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274320" indent="0" algn="l" defTabSz="914400" rtl="0" eaLnBrk="1" latinLnBrk="0" hangingPunct="1">
        <a:lnSpc>
          <a:spcPct val="130000"/>
        </a:lnSpc>
        <a:spcBef>
          <a:spcPts val="500"/>
        </a:spcBef>
        <a:buSzPct val="85000"/>
        <a:buFontTx/>
        <a:buNone/>
        <a:defRPr sz="1600" b="1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indent="-182880" algn="l" defTabSz="914400" rtl="0" eaLnBrk="1" latinLnBrk="0" hangingPunct="1">
        <a:lnSpc>
          <a:spcPct val="130000"/>
        </a:lnSpc>
        <a:spcBef>
          <a:spcPts val="500"/>
        </a:spcBef>
        <a:buSzPct val="8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466344" indent="0" algn="l" defTabSz="914400" rtl="0" eaLnBrk="1" latinLnBrk="0" hangingPunct="1">
        <a:lnSpc>
          <a:spcPct val="130000"/>
        </a:lnSpc>
        <a:spcBef>
          <a:spcPts val="500"/>
        </a:spcBef>
        <a:buSzPct val="85000"/>
        <a:buFontTx/>
        <a:buNone/>
        <a:defRPr sz="1200" b="1" kern="1200">
          <a:solidFill>
            <a:schemeClr val="tx1"/>
          </a:solidFill>
          <a:latin typeface="+mn-lt"/>
          <a:ea typeface="+mn-ea"/>
          <a:cs typeface="+mn-cs"/>
        </a:defRPr>
      </a:lvl4pPr>
      <a:lvl5pPr marL="640080" indent="-182880" algn="l" defTabSz="914400" rtl="0" eaLnBrk="1" latinLnBrk="0" hangingPunct="1">
        <a:lnSpc>
          <a:spcPct val="130000"/>
        </a:lnSpc>
        <a:spcBef>
          <a:spcPts val="500"/>
        </a:spcBef>
        <a:buSzPct val="85000"/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80">
          <p15:clr>
            <a:srgbClr val="F26B43"/>
          </p15:clr>
        </p15:guide>
        <p15:guide id="2" pos="3840">
          <p15:clr>
            <a:srgbClr val="F26B43"/>
          </p15:clr>
        </p15:guide>
        <p15:guide id="3" pos="7200">
          <p15:clr>
            <a:srgbClr val="F26B43"/>
          </p15:clr>
        </p15:guide>
        <p15:guide id="4" pos="6720">
          <p15:clr>
            <a:srgbClr val="F26B43"/>
          </p15:clr>
        </p15:guide>
        <p15:guide id="16" pos="480">
          <p15:clr>
            <a:srgbClr val="F26B43"/>
          </p15:clr>
        </p15:guide>
        <p15:guide id="23" orient="horz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ru-RU" err="1">
                <a:latin typeface="Times New Roman"/>
                <a:cs typeface="Times New Roman"/>
              </a:rPr>
              <a:t>SmartTutor</a:t>
            </a:r>
            <a:r>
              <a:rPr lang="ru-RU" dirty="0">
                <a:latin typeface="Times New Roman"/>
                <a:cs typeface="Times New Roman"/>
              </a:rPr>
              <a:t>: Ваш Персональный ИИ-Помощник в Обучении</a:t>
            </a:r>
          </a:p>
          <a:p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 fontScale="77500" lnSpcReduction="20000"/>
          </a:bodyPr>
          <a:lstStyle/>
          <a:p>
            <a:r>
              <a:rPr lang="ru-RU" dirty="0">
                <a:latin typeface="Times New Roman"/>
                <a:ea typeface="+mn-lt"/>
                <a:cs typeface="+mn-lt"/>
              </a:rPr>
              <a:t>Студент: Кузьмин Кирилл</a:t>
            </a:r>
          </a:p>
          <a:p>
            <a:r>
              <a:rPr lang="ru-RU" dirty="0">
                <a:latin typeface="Times New Roman"/>
                <a:ea typeface="+mn-lt"/>
                <a:cs typeface="+mn-lt"/>
              </a:rPr>
              <a:t>Группа 410-ИС</a:t>
            </a:r>
          </a:p>
          <a:p>
            <a:r>
              <a:rPr lang="ru-RU" dirty="0">
                <a:latin typeface="Times New Roman"/>
                <a:ea typeface="+mn-lt"/>
                <a:cs typeface="+mn-lt"/>
              </a:rPr>
              <a:t>Дисциплина: МДК.01.03 Разработка мобильных приложени</a:t>
            </a:r>
            <a:r>
              <a:rPr lang="ru-RU" dirty="0">
                <a:ea typeface="+mn-lt"/>
                <a:cs typeface="+mn-lt"/>
              </a:rPr>
              <a:t>й</a:t>
            </a:r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516515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B7B3856-DA41-14C7-5871-1B1AD16BD6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Times New Roman"/>
                <a:cs typeface="Times New Roman"/>
              </a:rPr>
              <a:t>Актуальность Проблемы: </a:t>
            </a:r>
          </a:p>
          <a:p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B27748D-3603-549E-42DB-1BC526F2F3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0168" y="1900410"/>
            <a:ext cx="7191134" cy="3810000"/>
          </a:xfrm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r>
              <a:rPr lang="ru-RU" dirty="0">
                <a:latin typeface="Times New Roman"/>
                <a:cs typeface="Times New Roman"/>
              </a:rPr>
              <a:t>❌ Студентам часто бывает сложно:</a:t>
            </a:r>
          </a:p>
          <a:p>
            <a:r>
              <a:rPr lang="ru-RU" dirty="0">
                <a:latin typeface="Times New Roman"/>
                <a:ea typeface="+mn-lt"/>
                <a:cs typeface="+mn-lt"/>
              </a:rPr>
              <a:t>Самостоятельно разбираться в сложных темах, требующих глубокого понимания.</a:t>
            </a:r>
          </a:p>
          <a:p>
            <a:r>
              <a:rPr lang="ru-RU" dirty="0">
                <a:latin typeface="Times New Roman"/>
                <a:ea typeface="+mn-lt"/>
                <a:cs typeface="+mn-lt"/>
              </a:rPr>
              <a:t>Эффективно готовиться к тестам и экзаменам без структурированных материалов.</a:t>
            </a:r>
          </a:p>
          <a:p>
            <a:r>
              <a:rPr lang="ru-RU" dirty="0">
                <a:latin typeface="Times New Roman"/>
                <a:ea typeface="+mn-lt"/>
                <a:cs typeface="+mn-lt"/>
              </a:rPr>
              <a:t>Организовывать учебный процесс, управлять временем и дедлайнами.</a:t>
            </a:r>
          </a:p>
          <a:p>
            <a:r>
              <a:rPr lang="ru-RU" dirty="0">
                <a:latin typeface="Times New Roman"/>
                <a:cs typeface="Times New Roman"/>
              </a:rPr>
              <a:t>❌ Существующие решения страдают от:</a:t>
            </a:r>
          </a:p>
          <a:p>
            <a:r>
              <a:rPr lang="ru-RU" dirty="0">
                <a:latin typeface="Times New Roman"/>
                <a:ea typeface="+mn-lt"/>
                <a:cs typeface="+mn-lt"/>
              </a:rPr>
              <a:t>Отсутствия персонализации, предлагая общие подходы к обучению.</a:t>
            </a:r>
          </a:p>
          <a:p>
            <a:r>
              <a:rPr lang="ru-RU" dirty="0">
                <a:latin typeface="Times New Roman"/>
                <a:ea typeface="+mn-lt"/>
                <a:cs typeface="+mn-lt"/>
              </a:rPr>
              <a:t>Неспособности объединить функции обучения и организации в одном удобном месте.</a:t>
            </a:r>
          </a:p>
          <a:p>
            <a:endParaRPr lang="ru-RU" dirty="0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7018C84-B191-BC5D-57AC-E0D31EE32E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7093F7-213A-464E-A1EA-1F027BD9EC7E}" type="datetime1">
              <a:t>28.01.2026</a:t>
            </a:fld>
            <a:endParaRPr lang="en-US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D2E5718-D949-7B01-08AA-AAADD2D257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4B4AEAF-E815-C0B5-7399-A2492305A4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95188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AED3997-10E2-C92A-98EB-8C7B4915E5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err="1">
                <a:latin typeface="Times New Roman"/>
                <a:cs typeface="Times New Roman"/>
              </a:rPr>
              <a:t>SmartTutor</a:t>
            </a:r>
            <a:r>
              <a:rPr lang="ru-RU" dirty="0">
                <a:latin typeface="Times New Roman"/>
                <a:cs typeface="Times New Roman"/>
              </a:rPr>
              <a:t>: Инновационная Идея Проекта</a:t>
            </a:r>
          </a:p>
          <a:p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0CA1E20-E6CC-379C-577F-335B799068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29566" y="2286000"/>
            <a:ext cx="9238434" cy="85380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err="1">
                <a:latin typeface="Times New Roman"/>
                <a:ea typeface="+mn-lt"/>
                <a:cs typeface="+mn-lt"/>
              </a:rPr>
              <a:t>SmartTutor</a:t>
            </a:r>
            <a:r>
              <a:rPr lang="ru-RU" dirty="0">
                <a:latin typeface="Times New Roman"/>
                <a:ea typeface="+mn-lt"/>
                <a:cs typeface="+mn-lt"/>
              </a:rPr>
              <a:t> — это не просто приложение, это ваш личный мобильный ИИ-репетитор, разработанный для максимальной эффективности вашего обучения.</a:t>
            </a:r>
            <a:endParaRPr lang="ru-RU" dirty="0">
              <a:latin typeface="Times New Roman"/>
            </a:endParaRPr>
          </a:p>
          <a:p>
            <a:endParaRPr lang="ru-RU" dirty="0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FCFFEBB-2CC3-10E7-443F-B8EE07D0D5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E853CA-EA4E-495D-B5B7-387F33F108FB}" type="datetime1">
              <a:t>28.01.2026</a:t>
            </a:fld>
            <a:endParaRPr lang="en-US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0A8085D-91FA-A310-B1FC-A4CDC253BE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8266C97-86D8-974A-20AD-B038C72A33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3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28518E4-3376-8AC2-E046-CABE89B07D58}"/>
              </a:ext>
            </a:extLst>
          </p:cNvPr>
          <p:cNvSpPr txBox="1"/>
          <p:nvPr/>
        </p:nvSpPr>
        <p:spPr>
          <a:xfrm>
            <a:off x="550843" y="3217843"/>
            <a:ext cx="6096000" cy="244682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b="1" err="1">
                <a:latin typeface="Times New Roman"/>
                <a:cs typeface="Times New Roman"/>
              </a:rPr>
              <a:t>Объясняет</a:t>
            </a:r>
            <a:r>
              <a:rPr lang="en-US" b="1" dirty="0">
                <a:latin typeface="Times New Roman"/>
                <a:cs typeface="Times New Roman"/>
              </a:rPr>
              <a:t> </a:t>
            </a:r>
            <a:r>
              <a:rPr lang="en-US" b="1" err="1">
                <a:latin typeface="Times New Roman"/>
                <a:cs typeface="Times New Roman"/>
              </a:rPr>
              <a:t>Сложные</a:t>
            </a:r>
            <a:r>
              <a:rPr lang="en-US" b="1" dirty="0">
                <a:latin typeface="Times New Roman"/>
                <a:cs typeface="Times New Roman"/>
              </a:rPr>
              <a:t> </a:t>
            </a:r>
            <a:r>
              <a:rPr lang="en-US" b="1" err="1">
                <a:latin typeface="Times New Roman"/>
                <a:cs typeface="Times New Roman"/>
              </a:rPr>
              <a:t>Темы</a:t>
            </a:r>
            <a:endParaRPr lang="en-US" b="1">
              <a:latin typeface="Times New Roman"/>
              <a:cs typeface="Times New Roman"/>
            </a:endParaRP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err="1">
                <a:latin typeface="Times New Roman"/>
                <a:cs typeface="Times New Roman"/>
              </a:rPr>
              <a:t>Понимайте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материал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глубже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благодаря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простым</a:t>
            </a:r>
            <a:r>
              <a:rPr lang="en-US" dirty="0">
                <a:latin typeface="Times New Roman"/>
                <a:cs typeface="Times New Roman"/>
              </a:rPr>
              <a:t> и </a:t>
            </a:r>
            <a:r>
              <a:rPr lang="en-US" err="1">
                <a:latin typeface="Times New Roman"/>
                <a:cs typeface="Times New Roman"/>
              </a:rPr>
              <a:t>доступным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объяснениям</a:t>
            </a:r>
            <a:r>
              <a:rPr lang="en-US" dirty="0">
                <a:latin typeface="Times New Roman"/>
                <a:cs typeface="Times New Roman"/>
              </a:rPr>
              <a:t>, </a:t>
            </a:r>
            <a:r>
              <a:rPr lang="en-US" err="1">
                <a:latin typeface="Times New Roman"/>
                <a:cs typeface="Times New Roman"/>
              </a:rPr>
              <a:t>адаптированным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под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ваш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уровень</a:t>
            </a:r>
            <a:r>
              <a:rPr lang="en-US" dirty="0">
                <a:latin typeface="Times New Roman"/>
                <a:cs typeface="Times New Roman"/>
              </a:rPr>
              <a:t>.</a:t>
            </a:r>
          </a:p>
          <a:p>
            <a:pPr>
              <a:lnSpc>
                <a:spcPct val="150000"/>
              </a:lnSpc>
            </a:pPr>
            <a:endParaRPr lang="en-US"/>
          </a:p>
          <a:p>
            <a:pPr algn="ctr"/>
            <a:endParaRPr lang="ru-RU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BCE0387-2FCE-6635-2383-6DBE208A9B21}"/>
              </a:ext>
            </a:extLst>
          </p:cNvPr>
          <p:cNvSpPr txBox="1"/>
          <p:nvPr/>
        </p:nvSpPr>
        <p:spPr>
          <a:xfrm>
            <a:off x="6646843" y="4567410"/>
            <a:ext cx="4847422" cy="258532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US"/>
          </a:p>
          <a:p>
            <a:pPr lvl="1">
              <a:lnSpc>
                <a:spcPct val="150000"/>
              </a:lnSpc>
            </a:pPr>
            <a:r>
              <a:rPr lang="en-US" b="1" err="1">
                <a:latin typeface="Times New Roman"/>
                <a:cs typeface="Times New Roman"/>
              </a:rPr>
              <a:t>Отслеживает</a:t>
            </a:r>
            <a:r>
              <a:rPr lang="en-US" b="1" dirty="0">
                <a:latin typeface="Times New Roman"/>
                <a:cs typeface="Times New Roman"/>
              </a:rPr>
              <a:t> </a:t>
            </a:r>
            <a:r>
              <a:rPr lang="en-US" b="1" err="1">
                <a:latin typeface="Times New Roman"/>
                <a:cs typeface="Times New Roman"/>
              </a:rPr>
              <a:t>Прогресс</a:t>
            </a:r>
            <a:endParaRPr lang="en-US" b="1">
              <a:latin typeface="Times New Roman"/>
              <a:cs typeface="Times New Roman"/>
            </a:endParaRP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err="1">
                <a:latin typeface="Times New Roman"/>
                <a:cs typeface="Times New Roman"/>
              </a:rPr>
              <a:t>Визуализируйте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свой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рост</a:t>
            </a:r>
            <a:r>
              <a:rPr lang="en-US" dirty="0">
                <a:latin typeface="Times New Roman"/>
                <a:cs typeface="Times New Roman"/>
              </a:rPr>
              <a:t> и </a:t>
            </a:r>
            <a:r>
              <a:rPr lang="en-US" err="1">
                <a:latin typeface="Times New Roman"/>
                <a:cs typeface="Times New Roman"/>
              </a:rPr>
              <a:t>достижения</a:t>
            </a:r>
            <a:r>
              <a:rPr lang="en-US" dirty="0">
                <a:latin typeface="Times New Roman"/>
                <a:cs typeface="Times New Roman"/>
              </a:rPr>
              <a:t>, </a:t>
            </a:r>
            <a:r>
              <a:rPr lang="en-US" err="1">
                <a:latin typeface="Times New Roman"/>
                <a:cs typeface="Times New Roman"/>
              </a:rPr>
              <a:t>мотивируясь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на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новые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свершения</a:t>
            </a:r>
            <a:r>
              <a:rPr lang="en-US" dirty="0">
                <a:latin typeface="Times New Roman"/>
                <a:cs typeface="Times New Roman"/>
              </a:rPr>
              <a:t>.</a:t>
            </a:r>
          </a:p>
          <a:p>
            <a:pPr>
              <a:lnSpc>
                <a:spcPct val="150000"/>
              </a:lnSpc>
            </a:pPr>
            <a:endParaRPr lang="en-US" dirty="0">
              <a:latin typeface="Times New Roman"/>
              <a:cs typeface="Times New Roman"/>
            </a:endParaRPr>
          </a:p>
          <a:p>
            <a:endParaRPr lang="en-US"/>
          </a:p>
          <a:p>
            <a:pPr algn="ctr"/>
            <a:endParaRPr lang="ru-RU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B8C6E45-3F7A-EAA1-3F4F-3C6CB7E31E59}"/>
              </a:ext>
            </a:extLst>
          </p:cNvPr>
          <p:cNvSpPr txBox="1"/>
          <p:nvPr/>
        </p:nvSpPr>
        <p:spPr>
          <a:xfrm>
            <a:off x="6867180" y="3135218"/>
            <a:ext cx="4847422" cy="203132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lvl="1" rtl="0">
              <a:lnSpc>
                <a:spcPct val="150000"/>
              </a:lnSpc>
            </a:pPr>
            <a:r>
              <a:rPr lang="en-US" sz="1800" b="1" baseline="0" err="1">
                <a:solidFill>
                  <a:srgbClr val="FFFFFF"/>
                </a:solidFill>
                <a:latin typeface="Times New Roman"/>
                <a:ea typeface="Segoe UI"/>
                <a:cs typeface="Segoe UI"/>
              </a:rPr>
              <a:t>Генерирует</a:t>
            </a:r>
            <a:r>
              <a:rPr lang="en-US" sz="1800" b="1" baseline="0" dirty="0">
                <a:solidFill>
                  <a:srgbClr val="FFFFFF"/>
                </a:solidFill>
                <a:latin typeface="Times New Roman"/>
                <a:ea typeface="Segoe UI"/>
                <a:cs typeface="Segoe UI"/>
              </a:rPr>
              <a:t> </a:t>
            </a:r>
            <a:r>
              <a:rPr lang="en-US" sz="1800" b="1" baseline="0" err="1">
                <a:solidFill>
                  <a:srgbClr val="FFFFFF"/>
                </a:solidFill>
                <a:latin typeface="Times New Roman"/>
                <a:ea typeface="Segoe UI"/>
                <a:cs typeface="Segoe UI"/>
              </a:rPr>
              <a:t>Задания</a:t>
            </a:r>
            <a:r>
              <a:rPr lang="en-US" sz="1800" b="1" baseline="0" dirty="0">
                <a:solidFill>
                  <a:srgbClr val="FFFFFF"/>
                </a:solidFill>
                <a:latin typeface="Times New Roman"/>
                <a:ea typeface="Segoe UI"/>
                <a:cs typeface="Segoe UI"/>
              </a:rPr>
              <a:t> и </a:t>
            </a:r>
            <a:r>
              <a:rPr lang="en-US" sz="1800" b="1" baseline="0" err="1">
                <a:solidFill>
                  <a:srgbClr val="FFFFFF"/>
                </a:solidFill>
                <a:latin typeface="Times New Roman"/>
                <a:ea typeface="Segoe UI"/>
                <a:cs typeface="Segoe UI"/>
              </a:rPr>
              <a:t>Тесты</a:t>
            </a:r>
            <a:r>
              <a:rPr lang="en-US" sz="1800" dirty="0">
                <a:solidFill>
                  <a:srgbClr val="FFFFFF"/>
                </a:solidFill>
                <a:latin typeface="Times New Roman"/>
                <a:ea typeface="Segoe UI"/>
                <a:cs typeface="Segoe UI"/>
              </a:rPr>
              <a:t>​</a:t>
            </a:r>
            <a:endParaRPr lang="ru-RU">
              <a:latin typeface="Times New Roman"/>
              <a:cs typeface="Times New Roman"/>
            </a:endParaRPr>
          </a:p>
          <a:p>
            <a:pPr marL="285750" indent="-285750" rtl="0">
              <a:lnSpc>
                <a:spcPct val="150000"/>
              </a:lnSpc>
              <a:buFont typeface="Arial"/>
              <a:buChar char="•"/>
            </a:pPr>
            <a:r>
              <a:rPr lang="en-US" sz="1800" baseline="0" err="1">
                <a:solidFill>
                  <a:srgbClr val="FFFFFF"/>
                </a:solidFill>
                <a:latin typeface="Times New Roman"/>
                <a:ea typeface="Segoe UI"/>
                <a:cs typeface="Segoe UI"/>
              </a:rPr>
              <a:t>Закрепляйте</a:t>
            </a:r>
            <a:r>
              <a:rPr lang="en-US" sz="1800" baseline="0" dirty="0">
                <a:solidFill>
                  <a:srgbClr val="FFFFFF"/>
                </a:solidFill>
                <a:latin typeface="Times New Roman"/>
                <a:ea typeface="Segoe UI"/>
                <a:cs typeface="Segoe UI"/>
              </a:rPr>
              <a:t> </a:t>
            </a:r>
            <a:r>
              <a:rPr lang="en-US" sz="1800" baseline="0" err="1">
                <a:solidFill>
                  <a:srgbClr val="FFFFFF"/>
                </a:solidFill>
                <a:latin typeface="Times New Roman"/>
                <a:ea typeface="Segoe UI"/>
                <a:cs typeface="Segoe UI"/>
              </a:rPr>
              <a:t>знания</a:t>
            </a:r>
            <a:r>
              <a:rPr lang="en-US" sz="1800" baseline="0" dirty="0">
                <a:solidFill>
                  <a:srgbClr val="FFFFFF"/>
                </a:solidFill>
                <a:latin typeface="Times New Roman"/>
                <a:ea typeface="Segoe UI"/>
                <a:cs typeface="Segoe UI"/>
              </a:rPr>
              <a:t> с </a:t>
            </a:r>
            <a:r>
              <a:rPr lang="en-US" sz="1800" baseline="0" err="1">
                <a:solidFill>
                  <a:srgbClr val="FFFFFF"/>
                </a:solidFill>
                <a:latin typeface="Times New Roman"/>
                <a:ea typeface="Segoe UI"/>
                <a:cs typeface="Segoe UI"/>
              </a:rPr>
              <a:t>помощью</a:t>
            </a:r>
            <a:r>
              <a:rPr lang="en-US" sz="1800" baseline="0" dirty="0">
                <a:solidFill>
                  <a:srgbClr val="FFFFFF"/>
                </a:solidFill>
                <a:latin typeface="Times New Roman"/>
                <a:ea typeface="Segoe UI"/>
                <a:cs typeface="Segoe UI"/>
              </a:rPr>
              <a:t> </a:t>
            </a:r>
            <a:r>
              <a:rPr lang="en-US" sz="1800" baseline="0" err="1">
                <a:solidFill>
                  <a:srgbClr val="FFFFFF"/>
                </a:solidFill>
                <a:latin typeface="Times New Roman"/>
                <a:ea typeface="Segoe UI"/>
                <a:cs typeface="Segoe UI"/>
              </a:rPr>
              <a:t>персонализированных</a:t>
            </a:r>
            <a:r>
              <a:rPr lang="en-US" sz="1800" baseline="0" dirty="0">
                <a:solidFill>
                  <a:srgbClr val="FFFFFF"/>
                </a:solidFill>
                <a:latin typeface="Times New Roman"/>
                <a:ea typeface="Segoe UI"/>
                <a:cs typeface="Segoe UI"/>
              </a:rPr>
              <a:t> </a:t>
            </a:r>
            <a:r>
              <a:rPr lang="en-US" sz="1800" baseline="0" err="1">
                <a:solidFill>
                  <a:srgbClr val="FFFFFF"/>
                </a:solidFill>
                <a:latin typeface="Times New Roman"/>
                <a:ea typeface="Segoe UI"/>
                <a:cs typeface="Segoe UI"/>
              </a:rPr>
              <a:t>тестов</a:t>
            </a:r>
            <a:r>
              <a:rPr lang="en-US" sz="1800" baseline="0" dirty="0">
                <a:solidFill>
                  <a:srgbClr val="FFFFFF"/>
                </a:solidFill>
                <a:latin typeface="Times New Roman"/>
                <a:ea typeface="Segoe UI"/>
                <a:cs typeface="Segoe UI"/>
              </a:rPr>
              <a:t> и </a:t>
            </a:r>
            <a:r>
              <a:rPr lang="en-US" sz="1800" baseline="0" err="1">
                <a:solidFill>
                  <a:srgbClr val="FFFFFF"/>
                </a:solidFill>
                <a:latin typeface="Times New Roman"/>
                <a:ea typeface="Segoe UI"/>
                <a:cs typeface="Segoe UI"/>
              </a:rPr>
              <a:t>практических</a:t>
            </a:r>
            <a:r>
              <a:rPr lang="en-US" sz="1800" baseline="0" dirty="0">
                <a:solidFill>
                  <a:srgbClr val="FFFFFF"/>
                </a:solidFill>
                <a:latin typeface="Times New Roman"/>
                <a:ea typeface="Segoe UI"/>
                <a:cs typeface="Segoe UI"/>
              </a:rPr>
              <a:t> </a:t>
            </a:r>
            <a:r>
              <a:rPr lang="en-US" sz="1800" baseline="0" err="1">
                <a:solidFill>
                  <a:srgbClr val="FFFFFF"/>
                </a:solidFill>
                <a:latin typeface="Times New Roman"/>
                <a:ea typeface="Segoe UI"/>
                <a:cs typeface="Segoe UI"/>
              </a:rPr>
              <a:t>заданий</a:t>
            </a:r>
            <a:r>
              <a:rPr lang="en-US" sz="1800" baseline="0" dirty="0">
                <a:solidFill>
                  <a:srgbClr val="FFFFFF"/>
                </a:solidFill>
                <a:latin typeface="Times New Roman"/>
                <a:ea typeface="Segoe UI"/>
                <a:cs typeface="Segoe UI"/>
              </a:rPr>
              <a:t>.</a:t>
            </a:r>
          </a:p>
          <a:p>
            <a:pPr algn="ctr"/>
            <a:endParaRPr lang="ru-RU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7DC92F3-07E3-E63E-77C2-AC02C47A3DB9}"/>
              </a:ext>
            </a:extLst>
          </p:cNvPr>
          <p:cNvSpPr txBox="1"/>
          <p:nvPr/>
        </p:nvSpPr>
        <p:spPr>
          <a:xfrm>
            <a:off x="550844" y="4870373"/>
            <a:ext cx="6096000" cy="24057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b="1" err="1">
                <a:solidFill>
                  <a:srgbClr val="FFFFFF"/>
                </a:solidFill>
                <a:latin typeface="Times New Roman"/>
                <a:ea typeface="Segoe UI"/>
                <a:cs typeface="Segoe UI"/>
              </a:rPr>
              <a:t>Напоминает</a:t>
            </a:r>
            <a:r>
              <a:rPr lang="en-US" b="1" dirty="0">
                <a:solidFill>
                  <a:srgbClr val="FFFFFF"/>
                </a:solidFill>
                <a:latin typeface="Times New Roman"/>
                <a:ea typeface="Segoe UI"/>
                <a:cs typeface="Segoe UI"/>
              </a:rPr>
              <a:t> о </a:t>
            </a:r>
            <a:r>
              <a:rPr lang="en-US" b="1" err="1">
                <a:solidFill>
                  <a:srgbClr val="FFFFFF"/>
                </a:solidFill>
                <a:latin typeface="Times New Roman"/>
                <a:ea typeface="Segoe UI"/>
                <a:cs typeface="Segoe UI"/>
              </a:rPr>
              <a:t>Дедлайнах</a:t>
            </a:r>
            <a:endParaRPr lang="en-US" sz="1800">
              <a:solidFill>
                <a:srgbClr val="FFFFFF"/>
              </a:solidFill>
              <a:latin typeface="Times New Roman"/>
              <a:ea typeface="Segoe UI"/>
              <a:cs typeface="Segoe UI"/>
            </a:endParaRP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err="1">
                <a:solidFill>
                  <a:srgbClr val="FFFFFF"/>
                </a:solidFill>
                <a:latin typeface="Times New Roman"/>
                <a:ea typeface="Segoe UI"/>
                <a:cs typeface="Segoe UI"/>
              </a:rPr>
              <a:t>Никогда</a:t>
            </a:r>
            <a:r>
              <a:rPr lang="en-US" dirty="0">
                <a:solidFill>
                  <a:srgbClr val="FFFFFF"/>
                </a:solidFill>
                <a:latin typeface="Times New Roman"/>
                <a:ea typeface="Segoe UI"/>
                <a:cs typeface="Segoe UI"/>
              </a:rPr>
              <a:t> </a:t>
            </a:r>
            <a:r>
              <a:rPr lang="en-US" err="1">
                <a:solidFill>
                  <a:srgbClr val="FFFFFF"/>
                </a:solidFill>
                <a:latin typeface="Times New Roman"/>
                <a:ea typeface="Segoe UI"/>
                <a:cs typeface="Segoe UI"/>
              </a:rPr>
              <a:t>не</a:t>
            </a:r>
            <a:r>
              <a:rPr lang="en-US" dirty="0">
                <a:solidFill>
                  <a:srgbClr val="FFFFFF"/>
                </a:solidFill>
                <a:latin typeface="Times New Roman"/>
                <a:ea typeface="Segoe UI"/>
                <a:cs typeface="Segoe UI"/>
              </a:rPr>
              <a:t> </a:t>
            </a:r>
            <a:r>
              <a:rPr lang="en-US" err="1">
                <a:solidFill>
                  <a:srgbClr val="FFFFFF"/>
                </a:solidFill>
                <a:latin typeface="Times New Roman"/>
                <a:ea typeface="Segoe UI"/>
                <a:cs typeface="Segoe UI"/>
              </a:rPr>
              <a:t>пропускайте</a:t>
            </a:r>
            <a:r>
              <a:rPr lang="en-US" dirty="0">
                <a:solidFill>
                  <a:srgbClr val="FFFFFF"/>
                </a:solidFill>
                <a:latin typeface="Times New Roman"/>
                <a:ea typeface="Segoe UI"/>
                <a:cs typeface="Segoe UI"/>
              </a:rPr>
              <a:t> </a:t>
            </a:r>
            <a:r>
              <a:rPr lang="en-US" err="1">
                <a:solidFill>
                  <a:srgbClr val="FFFFFF"/>
                </a:solidFill>
                <a:latin typeface="Times New Roman"/>
                <a:ea typeface="Segoe UI"/>
                <a:cs typeface="Segoe UI"/>
              </a:rPr>
              <a:t>важные</a:t>
            </a:r>
            <a:r>
              <a:rPr lang="en-US" dirty="0">
                <a:solidFill>
                  <a:srgbClr val="FFFFFF"/>
                </a:solidFill>
                <a:latin typeface="Times New Roman"/>
                <a:ea typeface="Segoe UI"/>
                <a:cs typeface="Segoe UI"/>
              </a:rPr>
              <a:t> </a:t>
            </a:r>
            <a:r>
              <a:rPr lang="en-US" err="1">
                <a:solidFill>
                  <a:srgbClr val="FFFFFF"/>
                </a:solidFill>
                <a:latin typeface="Times New Roman"/>
                <a:ea typeface="Segoe UI"/>
                <a:cs typeface="Segoe UI"/>
              </a:rPr>
              <a:t>сроки</a:t>
            </a:r>
            <a:r>
              <a:rPr lang="en-US" dirty="0">
                <a:solidFill>
                  <a:srgbClr val="FFFFFF"/>
                </a:solidFill>
                <a:latin typeface="Times New Roman"/>
                <a:ea typeface="Segoe UI"/>
                <a:cs typeface="Segoe UI"/>
              </a:rPr>
              <a:t> </a:t>
            </a:r>
            <a:r>
              <a:rPr lang="en-US" err="1">
                <a:solidFill>
                  <a:srgbClr val="FFFFFF"/>
                </a:solidFill>
                <a:latin typeface="Times New Roman"/>
                <a:ea typeface="Segoe UI"/>
                <a:cs typeface="Segoe UI"/>
              </a:rPr>
              <a:t>благодаря</a:t>
            </a:r>
            <a:r>
              <a:rPr lang="en-US" dirty="0">
                <a:solidFill>
                  <a:srgbClr val="FFFFFF"/>
                </a:solidFill>
                <a:latin typeface="Times New Roman"/>
                <a:ea typeface="Segoe UI"/>
                <a:cs typeface="Segoe UI"/>
              </a:rPr>
              <a:t> </a:t>
            </a:r>
            <a:r>
              <a:rPr lang="en-US" err="1">
                <a:solidFill>
                  <a:srgbClr val="FFFFFF"/>
                </a:solidFill>
                <a:latin typeface="Times New Roman"/>
                <a:ea typeface="Segoe UI"/>
                <a:cs typeface="Segoe UI"/>
              </a:rPr>
              <a:t>интеллектуальным</a:t>
            </a:r>
            <a:r>
              <a:rPr lang="en-US" dirty="0">
                <a:solidFill>
                  <a:srgbClr val="FFFFFF"/>
                </a:solidFill>
                <a:latin typeface="Times New Roman"/>
                <a:ea typeface="Segoe UI"/>
                <a:cs typeface="Segoe UI"/>
              </a:rPr>
              <a:t> </a:t>
            </a:r>
            <a:r>
              <a:rPr lang="en-US" err="1">
                <a:solidFill>
                  <a:srgbClr val="FFFFFF"/>
                </a:solidFill>
                <a:latin typeface="Times New Roman"/>
                <a:ea typeface="Segoe UI"/>
                <a:cs typeface="Segoe UI"/>
              </a:rPr>
              <a:t>напоминаниям</a:t>
            </a:r>
            <a:r>
              <a:rPr lang="en-US" sz="1800" baseline="0" dirty="0">
                <a:solidFill>
                  <a:srgbClr val="FFFFFF"/>
                </a:solidFill>
                <a:latin typeface="Times New Roman"/>
                <a:ea typeface="Segoe UI"/>
                <a:cs typeface="Segoe UI"/>
              </a:rPr>
              <a:t>.</a:t>
            </a:r>
            <a:endParaRPr lang="en-US" dirty="0">
              <a:solidFill>
                <a:srgbClr val="FFFFFF"/>
              </a:solidFill>
              <a:latin typeface="Times New Roman"/>
              <a:ea typeface="Segoe UI"/>
              <a:cs typeface="Segoe UI"/>
            </a:endParaRPr>
          </a:p>
          <a:p>
            <a:endParaRPr lang="en-US" dirty="0">
              <a:solidFill>
                <a:srgbClr val="FFFFFF"/>
              </a:solidFill>
              <a:latin typeface="Trade Gothic Next Light"/>
              <a:ea typeface="Segoe UI"/>
              <a:cs typeface="Segoe UI"/>
            </a:endParaRPr>
          </a:p>
          <a:p>
            <a:pPr>
              <a:lnSpc>
                <a:spcPts val="1950"/>
              </a:lnSpc>
            </a:pPr>
            <a:endParaRPr lang="ru-RU" sz="1800" dirty="0">
              <a:solidFill>
                <a:srgbClr val="FFFFFF"/>
              </a:solidFill>
              <a:latin typeface="Trade Gothic Next Light"/>
              <a:ea typeface="Segoe UI"/>
              <a:cs typeface="Segoe UI"/>
            </a:endParaRPr>
          </a:p>
          <a:p>
            <a:pPr rtl="0">
              <a:lnSpc>
                <a:spcPts val="1950"/>
              </a:lnSpc>
            </a:pPr>
            <a:r>
              <a:rPr lang="en-US" sz="1800" dirty="0">
                <a:solidFill>
                  <a:srgbClr val="FFFFFF"/>
                </a:solidFill>
                <a:latin typeface="Trade Gothic Next Light"/>
                <a:ea typeface="Segoe UI"/>
                <a:cs typeface="Segoe UI"/>
              </a:rPr>
              <a:t>​</a:t>
            </a:r>
          </a:p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61895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4C42127-AEC6-EBBB-0C88-406642DC55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Times New Roman"/>
                <a:cs typeface="Times New Roman"/>
              </a:rPr>
              <a:t>Целевая Аудитория: Кому Поможет </a:t>
            </a:r>
            <a:r>
              <a:rPr lang="ru-RU" err="1">
                <a:latin typeface="Times New Roman"/>
                <a:cs typeface="Times New Roman"/>
              </a:rPr>
              <a:t>SmartTutor</a:t>
            </a:r>
            <a:r>
              <a:rPr lang="ru-RU" dirty="0">
                <a:latin typeface="Times New Roman"/>
                <a:cs typeface="Times New Roman"/>
              </a:rPr>
              <a:t>?</a:t>
            </a:r>
          </a:p>
          <a:p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ED681D8-FD45-CA17-3C41-2EF4C6779A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38747" y="1468916"/>
            <a:ext cx="6548483" cy="624291"/>
          </a:xfrm>
        </p:spPr>
        <p:txBody>
          <a:bodyPr vert="horz" lIns="91440" tIns="45720" rIns="91440" bIns="45720" rtlCol="0" anchor="t">
            <a:normAutofit fontScale="85000" lnSpcReduction="20000"/>
          </a:bodyPr>
          <a:lstStyle/>
          <a:p>
            <a:pPr marL="0" indent="0">
              <a:buNone/>
            </a:pPr>
            <a:r>
              <a:rPr lang="ru-RU" err="1">
                <a:latin typeface="Times New Roman"/>
                <a:ea typeface="+mn-lt"/>
                <a:cs typeface="+mn-lt"/>
              </a:rPr>
              <a:t>SmartTutor</a:t>
            </a:r>
            <a:r>
              <a:rPr lang="ru-RU" dirty="0">
                <a:latin typeface="Times New Roman"/>
                <a:ea typeface="+mn-lt"/>
                <a:cs typeface="+mn-lt"/>
              </a:rPr>
              <a:t> разработан для поддержки широкого круга учащихся, стремящихся к совершенствованию своих знаний и навыков.</a:t>
            </a:r>
            <a:endParaRPr lang="ru-RU">
              <a:latin typeface="Times New Roman"/>
              <a:ea typeface="+mn-lt"/>
              <a:cs typeface="+mn-lt"/>
            </a:endParaRPr>
          </a:p>
          <a:p>
            <a:endParaRPr lang="ru-RU" dirty="0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84D38F5-C41D-FCF7-2BAD-05266E4BF3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5D884-4DE3-4EEA-9CE6-63C0CDB369CB}" type="datetime1">
              <a:t>28.01.2026</a:t>
            </a:fld>
            <a:endParaRPr lang="en-US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EA63A1D-8818-ABA4-4C34-A3CC1BAEB7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F0DC519-265F-928E-1925-15D4B14A25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4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F4DCB44-7F4A-2FA5-65F2-EED24F1AC0AC}"/>
              </a:ext>
            </a:extLst>
          </p:cNvPr>
          <p:cNvSpPr txBox="1"/>
          <p:nvPr/>
        </p:nvSpPr>
        <p:spPr>
          <a:xfrm>
            <a:off x="348868" y="2097795"/>
            <a:ext cx="7785252" cy="521681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latin typeface="Times New Roman"/>
                <a:cs typeface="Times New Roman"/>
              </a:rPr>
              <a:t>👨‍🎓 </a:t>
            </a:r>
            <a:r>
              <a:rPr lang="en-US" b="1" err="1">
                <a:latin typeface="Times New Roman"/>
                <a:cs typeface="Times New Roman"/>
              </a:rPr>
              <a:t>Основная</a:t>
            </a:r>
            <a:r>
              <a:rPr lang="en-US" b="1" dirty="0">
                <a:latin typeface="Times New Roman"/>
                <a:cs typeface="Times New Roman"/>
              </a:rPr>
              <a:t> </a:t>
            </a:r>
            <a:r>
              <a:rPr lang="en-US" b="1" err="1">
                <a:latin typeface="Times New Roman"/>
                <a:cs typeface="Times New Roman"/>
              </a:rPr>
              <a:t>Аудитория</a:t>
            </a:r>
            <a:r>
              <a:rPr lang="en-US" b="1" dirty="0">
                <a:latin typeface="Times New Roman"/>
                <a:cs typeface="Times New Roman"/>
              </a:rPr>
              <a:t>:</a:t>
            </a:r>
            <a:endParaRPr lang="ru-RU"/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err="1">
                <a:latin typeface="Times New Roman"/>
                <a:cs typeface="Times New Roman"/>
              </a:rPr>
              <a:t>Студенты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колледжей</a:t>
            </a:r>
            <a:r>
              <a:rPr lang="en-US" dirty="0">
                <a:latin typeface="Times New Roman"/>
                <a:cs typeface="Times New Roman"/>
              </a:rPr>
              <a:t> и </a:t>
            </a:r>
            <a:r>
              <a:rPr lang="en-US" err="1">
                <a:latin typeface="Times New Roman"/>
                <a:cs typeface="Times New Roman"/>
              </a:rPr>
              <a:t>высших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учебных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заведений</a:t>
            </a:r>
            <a:r>
              <a:rPr lang="en-US" dirty="0">
                <a:latin typeface="Times New Roman"/>
                <a:cs typeface="Times New Roman"/>
              </a:rPr>
              <a:t>, </a:t>
            </a:r>
            <a:r>
              <a:rPr lang="en-US" err="1">
                <a:latin typeface="Times New Roman"/>
                <a:cs typeface="Times New Roman"/>
              </a:rPr>
              <a:t>ищущие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надежный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инструмент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для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углубленного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изучения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предметов</a:t>
            </a:r>
            <a:r>
              <a:rPr lang="en-US" dirty="0">
                <a:latin typeface="Times New Roman"/>
                <a:cs typeface="Times New Roman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err="1">
                <a:latin typeface="Times New Roman"/>
                <a:cs typeface="Times New Roman"/>
              </a:rPr>
              <a:t>Лица</a:t>
            </a:r>
            <a:r>
              <a:rPr lang="en-US" dirty="0">
                <a:latin typeface="Times New Roman"/>
                <a:cs typeface="Times New Roman"/>
              </a:rPr>
              <a:t>, </a:t>
            </a:r>
            <a:r>
              <a:rPr lang="en-US" err="1">
                <a:latin typeface="Times New Roman"/>
                <a:cs typeface="Times New Roman"/>
              </a:rPr>
              <a:t>занимающиеся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самообразованием</a:t>
            </a:r>
            <a:r>
              <a:rPr lang="en-US" dirty="0">
                <a:latin typeface="Times New Roman"/>
                <a:cs typeface="Times New Roman"/>
              </a:rPr>
              <a:t> и </a:t>
            </a:r>
            <a:r>
              <a:rPr lang="en-US" err="1">
                <a:latin typeface="Times New Roman"/>
                <a:cs typeface="Times New Roman"/>
              </a:rPr>
              <a:t>желающие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освоить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новые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области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знаний</a:t>
            </a:r>
            <a:r>
              <a:rPr lang="en-US" dirty="0">
                <a:latin typeface="Times New Roman"/>
                <a:cs typeface="Times New Roman"/>
              </a:rPr>
              <a:t>.</a:t>
            </a:r>
          </a:p>
          <a:p>
            <a:pPr>
              <a:lnSpc>
                <a:spcPct val="150000"/>
              </a:lnSpc>
            </a:pPr>
            <a:endParaRPr lang="en-US" dirty="0">
              <a:latin typeface="Times New Roman"/>
              <a:cs typeface="Times New Roman"/>
            </a:endParaRPr>
          </a:p>
          <a:p>
            <a:pPr>
              <a:lnSpc>
                <a:spcPct val="150000"/>
              </a:lnSpc>
            </a:pPr>
            <a:r>
              <a:rPr lang="en-US" b="1" dirty="0">
                <a:latin typeface="Times New Roman"/>
                <a:cs typeface="Times New Roman"/>
              </a:rPr>
              <a:t>📚 </a:t>
            </a:r>
            <a:r>
              <a:rPr lang="en-US" b="1" err="1">
                <a:latin typeface="Times New Roman"/>
                <a:cs typeface="Times New Roman"/>
              </a:rPr>
              <a:t>Сферы</a:t>
            </a:r>
            <a:r>
              <a:rPr lang="en-US" b="1" dirty="0">
                <a:latin typeface="Times New Roman"/>
                <a:cs typeface="Times New Roman"/>
              </a:rPr>
              <a:t> </a:t>
            </a:r>
            <a:r>
              <a:rPr lang="en-US" b="1" err="1">
                <a:latin typeface="Times New Roman"/>
                <a:cs typeface="Times New Roman"/>
              </a:rPr>
              <a:t>Использования</a:t>
            </a:r>
            <a:r>
              <a:rPr lang="en-US" b="1" dirty="0">
                <a:latin typeface="Times New Roman"/>
                <a:cs typeface="Times New Roman"/>
              </a:rPr>
              <a:t>:</a:t>
            </a: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err="1">
                <a:latin typeface="Times New Roman"/>
                <a:cs typeface="Times New Roman"/>
              </a:rPr>
              <a:t>Эффективная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подготовка</a:t>
            </a:r>
            <a:r>
              <a:rPr lang="en-US" dirty="0">
                <a:latin typeface="Times New Roman"/>
                <a:cs typeface="Times New Roman"/>
              </a:rPr>
              <a:t> к </a:t>
            </a:r>
            <a:r>
              <a:rPr lang="en-US" err="1">
                <a:latin typeface="Times New Roman"/>
                <a:cs typeface="Times New Roman"/>
              </a:rPr>
              <a:t>занятиям</a:t>
            </a:r>
            <a:r>
              <a:rPr lang="en-US" dirty="0">
                <a:latin typeface="Times New Roman"/>
                <a:cs typeface="Times New Roman"/>
              </a:rPr>
              <a:t> и </a:t>
            </a:r>
            <a:r>
              <a:rPr lang="en-US" err="1">
                <a:latin typeface="Times New Roman"/>
                <a:cs typeface="Times New Roman"/>
              </a:rPr>
              <a:t>семинарам</a:t>
            </a:r>
            <a:r>
              <a:rPr lang="en-US" dirty="0">
                <a:latin typeface="Times New Roman"/>
                <a:cs typeface="Times New Roman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err="1">
                <a:latin typeface="Times New Roman"/>
                <a:cs typeface="Times New Roman"/>
              </a:rPr>
              <a:t>Глубокое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повторение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пройденных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тем</a:t>
            </a:r>
            <a:r>
              <a:rPr lang="en-US" dirty="0">
                <a:latin typeface="Times New Roman"/>
                <a:cs typeface="Times New Roman"/>
              </a:rPr>
              <a:t> и </a:t>
            </a:r>
            <a:r>
              <a:rPr lang="en-US" err="1">
                <a:latin typeface="Times New Roman"/>
                <a:cs typeface="Times New Roman"/>
              </a:rPr>
              <a:t>материалов</a:t>
            </a:r>
            <a:r>
              <a:rPr lang="en-US" dirty="0">
                <a:latin typeface="Times New Roman"/>
                <a:cs typeface="Times New Roman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err="1">
                <a:latin typeface="Times New Roman"/>
                <a:cs typeface="Times New Roman"/>
              </a:rPr>
              <a:t>Структурированное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самообучение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по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индивидуальному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плану</a:t>
            </a:r>
            <a:r>
              <a:rPr lang="en-US" dirty="0">
                <a:latin typeface="Times New Roman"/>
                <a:cs typeface="Times New Roman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err="1">
                <a:latin typeface="Times New Roman"/>
                <a:cs typeface="Times New Roman"/>
              </a:rPr>
              <a:t>Удобный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контроль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за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академическими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дедлайнами</a:t>
            </a:r>
            <a:r>
              <a:rPr lang="en-US" dirty="0">
                <a:latin typeface="Times New Roman"/>
                <a:cs typeface="Times New Roman"/>
              </a:rPr>
              <a:t> и </a:t>
            </a:r>
            <a:r>
              <a:rPr lang="en-US" err="1">
                <a:latin typeface="Times New Roman"/>
                <a:cs typeface="Times New Roman"/>
              </a:rPr>
              <a:t>расписанием</a:t>
            </a:r>
            <a:r>
              <a:rPr lang="en-US" dirty="0">
                <a:latin typeface="Times New Roman"/>
                <a:cs typeface="Times New Roman"/>
              </a:rPr>
              <a:t>.</a:t>
            </a:r>
          </a:p>
          <a:p>
            <a:endParaRPr lang="en-US"/>
          </a:p>
          <a:p>
            <a:pPr algn="ctr"/>
            <a:endParaRPr lang="ru-RU"/>
          </a:p>
        </p:txBody>
      </p:sp>
      <p:pic>
        <p:nvPicPr>
          <p:cNvPr id="8" name="Рисунок 7" descr="Изображение выглядит как одежда, мультфильм, человек, аним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DB1F4584-98D4-2E69-8539-9B3567B620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82638" y="1900410"/>
            <a:ext cx="4204772" cy="4195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14495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951CE20-26EE-EBAB-6AA7-4E1638E730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err="1">
                <a:latin typeface="Times New Roman"/>
                <a:cs typeface="Times New Roman"/>
              </a:rPr>
              <a:t>SmartTutor</a:t>
            </a:r>
            <a:r>
              <a:rPr lang="ru-RU" dirty="0">
                <a:latin typeface="Times New Roman"/>
                <a:cs typeface="Times New Roman"/>
              </a:rPr>
              <a:t>: Отличия от Аналогов</a:t>
            </a:r>
          </a:p>
          <a:p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31CC872-D31A-FC68-EF30-FDFAD192E5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29566" y="1514819"/>
            <a:ext cx="8072483" cy="762001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marL="0" indent="0">
              <a:buNone/>
            </a:pPr>
            <a:r>
              <a:rPr lang="ru-RU" dirty="0">
                <a:latin typeface="Times New Roman"/>
                <a:ea typeface="+mn-lt"/>
                <a:cs typeface="+mn-lt"/>
              </a:rPr>
              <a:t>В отличие от разрозненных решений, </a:t>
            </a:r>
            <a:r>
              <a:rPr lang="ru-RU" err="1">
                <a:latin typeface="Times New Roman"/>
                <a:ea typeface="+mn-lt"/>
                <a:cs typeface="+mn-lt"/>
              </a:rPr>
              <a:t>SmartTutor</a:t>
            </a:r>
            <a:r>
              <a:rPr lang="ru-RU" dirty="0">
                <a:latin typeface="Times New Roman"/>
                <a:ea typeface="+mn-lt"/>
                <a:cs typeface="+mn-lt"/>
              </a:rPr>
              <a:t> предлагает комплексный подход к обучению.</a:t>
            </a:r>
            <a:endParaRPr lang="ru-RU" dirty="0">
              <a:latin typeface="Times New Roman"/>
            </a:endParaRPr>
          </a:p>
          <a:p>
            <a:endParaRPr lang="ru-RU" dirty="0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9FDFEF4-6EB5-CC65-8AE3-F6A31A0E5E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3399F6-2AF3-4A47-8D0C-F14FC02AEC1C}" type="datetime1">
              <a:t>28.01.2026</a:t>
            </a:fld>
            <a:endParaRPr lang="en-US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ACDEC12-F541-D2F4-06CC-0D38421813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AA935C7-E8DE-BF18-644A-6FF5E053BE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5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CB94E3D-FE35-9945-E02E-6DE93ABA8A18}"/>
              </a:ext>
            </a:extLst>
          </p:cNvPr>
          <p:cNvSpPr txBox="1"/>
          <p:nvPr/>
        </p:nvSpPr>
        <p:spPr>
          <a:xfrm>
            <a:off x="339686" y="2712904"/>
            <a:ext cx="6096000" cy="32778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latin typeface="Times New Roman"/>
                <a:cs typeface="Times New Roman"/>
              </a:rPr>
              <a:t>Известные Аналоги:</a:t>
            </a:r>
            <a:endParaRPr lang="ru-RU">
              <a:latin typeface="Times New Roman"/>
              <a:cs typeface="Times New Roman"/>
            </a:endParaRP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b="1" dirty="0">
                <a:latin typeface="Times New Roman"/>
                <a:ea typeface="+mn-lt"/>
                <a:cs typeface="+mn-lt"/>
              </a:rPr>
              <a:t>Duolingo:</a:t>
            </a:r>
            <a:r>
              <a:rPr lang="en-US" dirty="0">
                <a:latin typeface="Times New Roman"/>
                <a:ea typeface="+mn-lt"/>
                <a:cs typeface="+mn-lt"/>
              </a:rPr>
              <a:t> </a:t>
            </a:r>
            <a:r>
              <a:rPr lang="en-US" err="1">
                <a:latin typeface="Times New Roman"/>
                <a:ea typeface="+mn-lt"/>
                <a:cs typeface="+mn-lt"/>
              </a:rPr>
              <a:t>Отлично</a:t>
            </a:r>
            <a:r>
              <a:rPr lang="en-US" dirty="0">
                <a:latin typeface="Times New Roman"/>
                <a:ea typeface="+mn-lt"/>
                <a:cs typeface="+mn-lt"/>
              </a:rPr>
              <a:t> </a:t>
            </a:r>
            <a:r>
              <a:rPr lang="en-US" err="1">
                <a:latin typeface="Times New Roman"/>
                <a:ea typeface="+mn-lt"/>
                <a:cs typeface="+mn-lt"/>
              </a:rPr>
              <a:t>подходит</a:t>
            </a:r>
            <a:r>
              <a:rPr lang="en-US" dirty="0">
                <a:latin typeface="Times New Roman"/>
                <a:ea typeface="+mn-lt"/>
                <a:cs typeface="+mn-lt"/>
              </a:rPr>
              <a:t> </a:t>
            </a:r>
            <a:r>
              <a:rPr lang="en-US" err="1">
                <a:latin typeface="Times New Roman"/>
                <a:ea typeface="+mn-lt"/>
                <a:cs typeface="+mn-lt"/>
              </a:rPr>
              <a:t>для</a:t>
            </a:r>
            <a:r>
              <a:rPr lang="en-US" dirty="0">
                <a:latin typeface="Times New Roman"/>
                <a:ea typeface="+mn-lt"/>
                <a:cs typeface="+mn-lt"/>
              </a:rPr>
              <a:t> </a:t>
            </a:r>
            <a:r>
              <a:rPr lang="en-US" err="1">
                <a:latin typeface="Times New Roman"/>
                <a:ea typeface="+mn-lt"/>
                <a:cs typeface="+mn-lt"/>
              </a:rPr>
              <a:t>изучения</a:t>
            </a:r>
            <a:r>
              <a:rPr lang="en-US" dirty="0">
                <a:latin typeface="Times New Roman"/>
                <a:ea typeface="+mn-lt"/>
                <a:cs typeface="+mn-lt"/>
              </a:rPr>
              <a:t> </a:t>
            </a:r>
            <a:r>
              <a:rPr lang="en-US" err="1">
                <a:latin typeface="Times New Roman"/>
                <a:ea typeface="+mn-lt"/>
                <a:cs typeface="+mn-lt"/>
              </a:rPr>
              <a:t>языков</a:t>
            </a:r>
            <a:r>
              <a:rPr lang="en-US" dirty="0">
                <a:latin typeface="Times New Roman"/>
                <a:ea typeface="+mn-lt"/>
                <a:cs typeface="+mn-lt"/>
              </a:rPr>
              <a:t>, </a:t>
            </a:r>
            <a:r>
              <a:rPr lang="en-US" err="1">
                <a:latin typeface="Times New Roman"/>
                <a:ea typeface="+mn-lt"/>
                <a:cs typeface="+mn-lt"/>
              </a:rPr>
              <a:t>но</a:t>
            </a:r>
            <a:r>
              <a:rPr lang="en-US" dirty="0">
                <a:latin typeface="Times New Roman"/>
                <a:ea typeface="+mn-lt"/>
                <a:cs typeface="+mn-lt"/>
              </a:rPr>
              <a:t> </a:t>
            </a:r>
            <a:r>
              <a:rPr lang="en-US" err="1">
                <a:latin typeface="Times New Roman"/>
                <a:ea typeface="+mn-lt"/>
                <a:cs typeface="+mn-lt"/>
              </a:rPr>
              <a:t>узкоспециализирован</a:t>
            </a:r>
            <a:r>
              <a:rPr lang="en-US" dirty="0">
                <a:latin typeface="Times New Roman"/>
                <a:ea typeface="+mn-lt"/>
                <a:cs typeface="+mn-lt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b="1" dirty="0">
                <a:latin typeface="Times New Roman"/>
                <a:ea typeface="+mn-lt"/>
                <a:cs typeface="+mn-lt"/>
              </a:rPr>
              <a:t>Quizlet:</a:t>
            </a:r>
            <a:r>
              <a:rPr lang="en-US" dirty="0">
                <a:latin typeface="Times New Roman"/>
                <a:ea typeface="+mn-lt"/>
                <a:cs typeface="+mn-lt"/>
              </a:rPr>
              <a:t> </a:t>
            </a:r>
            <a:r>
              <a:rPr lang="en-US" err="1">
                <a:latin typeface="Times New Roman"/>
                <a:ea typeface="+mn-lt"/>
                <a:cs typeface="+mn-lt"/>
              </a:rPr>
              <a:t>Фокусируется</a:t>
            </a:r>
            <a:r>
              <a:rPr lang="en-US" dirty="0">
                <a:latin typeface="Times New Roman"/>
                <a:ea typeface="+mn-lt"/>
                <a:cs typeface="+mn-lt"/>
              </a:rPr>
              <a:t> </a:t>
            </a:r>
            <a:r>
              <a:rPr lang="en-US" err="1">
                <a:latin typeface="Times New Roman"/>
                <a:ea typeface="+mn-lt"/>
                <a:cs typeface="+mn-lt"/>
              </a:rPr>
              <a:t>на</a:t>
            </a:r>
            <a:r>
              <a:rPr lang="en-US" dirty="0">
                <a:latin typeface="Times New Roman"/>
                <a:ea typeface="+mn-lt"/>
                <a:cs typeface="+mn-lt"/>
              </a:rPr>
              <a:t> </a:t>
            </a:r>
            <a:r>
              <a:rPr lang="en-US" err="1">
                <a:latin typeface="Times New Roman"/>
                <a:ea typeface="+mn-lt"/>
                <a:cs typeface="+mn-lt"/>
              </a:rPr>
              <a:t>карточках</a:t>
            </a:r>
            <a:r>
              <a:rPr lang="en-US" dirty="0">
                <a:latin typeface="Times New Roman"/>
                <a:ea typeface="+mn-lt"/>
                <a:cs typeface="+mn-lt"/>
              </a:rPr>
              <a:t> и </a:t>
            </a:r>
            <a:r>
              <a:rPr lang="en-US" err="1">
                <a:latin typeface="Times New Roman"/>
                <a:ea typeface="+mn-lt"/>
                <a:cs typeface="+mn-lt"/>
              </a:rPr>
              <a:t>тестах</a:t>
            </a:r>
            <a:r>
              <a:rPr lang="en-US" dirty="0">
                <a:latin typeface="Times New Roman"/>
                <a:ea typeface="+mn-lt"/>
                <a:cs typeface="+mn-lt"/>
              </a:rPr>
              <a:t>, </a:t>
            </a:r>
            <a:r>
              <a:rPr lang="en-US" err="1">
                <a:latin typeface="Times New Roman"/>
                <a:ea typeface="+mn-lt"/>
                <a:cs typeface="+mn-lt"/>
              </a:rPr>
              <a:t>не</a:t>
            </a:r>
            <a:r>
              <a:rPr lang="en-US" dirty="0">
                <a:latin typeface="Times New Roman"/>
                <a:ea typeface="+mn-lt"/>
                <a:cs typeface="+mn-lt"/>
              </a:rPr>
              <a:t> </a:t>
            </a:r>
            <a:r>
              <a:rPr lang="en-US" err="1">
                <a:latin typeface="Times New Roman"/>
                <a:ea typeface="+mn-lt"/>
                <a:cs typeface="+mn-lt"/>
              </a:rPr>
              <a:t>охватывая</a:t>
            </a:r>
            <a:r>
              <a:rPr lang="en-US" dirty="0">
                <a:latin typeface="Times New Roman"/>
                <a:ea typeface="+mn-lt"/>
                <a:cs typeface="+mn-lt"/>
              </a:rPr>
              <a:t> </a:t>
            </a:r>
            <a:r>
              <a:rPr lang="en-US" err="1">
                <a:latin typeface="Times New Roman"/>
                <a:ea typeface="+mn-lt"/>
                <a:cs typeface="+mn-lt"/>
              </a:rPr>
              <a:t>весь</a:t>
            </a:r>
            <a:r>
              <a:rPr lang="en-US" dirty="0">
                <a:latin typeface="Times New Roman"/>
                <a:ea typeface="+mn-lt"/>
                <a:cs typeface="+mn-lt"/>
              </a:rPr>
              <a:t> </a:t>
            </a:r>
            <a:r>
              <a:rPr lang="en-US" err="1">
                <a:latin typeface="Times New Roman"/>
                <a:ea typeface="+mn-lt"/>
                <a:cs typeface="+mn-lt"/>
              </a:rPr>
              <a:t>учебный</a:t>
            </a:r>
            <a:r>
              <a:rPr lang="en-US" dirty="0">
                <a:latin typeface="Times New Roman"/>
                <a:ea typeface="+mn-lt"/>
                <a:cs typeface="+mn-lt"/>
              </a:rPr>
              <a:t> </a:t>
            </a:r>
            <a:r>
              <a:rPr lang="en-US" err="1">
                <a:latin typeface="Times New Roman"/>
                <a:ea typeface="+mn-lt"/>
                <a:cs typeface="+mn-lt"/>
              </a:rPr>
              <a:t>процесс</a:t>
            </a:r>
            <a:r>
              <a:rPr lang="en-US" dirty="0">
                <a:latin typeface="Times New Roman"/>
                <a:ea typeface="+mn-lt"/>
                <a:cs typeface="+mn-lt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b="1" dirty="0">
                <a:latin typeface="Times New Roman"/>
                <a:ea typeface="+mn-lt"/>
                <a:cs typeface="+mn-lt"/>
              </a:rPr>
              <a:t>ChatGPT:</a:t>
            </a:r>
            <a:r>
              <a:rPr lang="en-US" dirty="0">
                <a:latin typeface="Times New Roman"/>
                <a:ea typeface="+mn-lt"/>
                <a:cs typeface="+mn-lt"/>
              </a:rPr>
              <a:t> </a:t>
            </a:r>
            <a:r>
              <a:rPr lang="en-US" err="1">
                <a:latin typeface="Times New Roman"/>
                <a:ea typeface="+mn-lt"/>
                <a:cs typeface="+mn-lt"/>
              </a:rPr>
              <a:t>Мощный</a:t>
            </a:r>
            <a:r>
              <a:rPr lang="en-US" dirty="0">
                <a:latin typeface="Times New Roman"/>
                <a:ea typeface="+mn-lt"/>
                <a:cs typeface="+mn-lt"/>
              </a:rPr>
              <a:t> ИИ </a:t>
            </a:r>
            <a:r>
              <a:rPr lang="en-US" err="1">
                <a:latin typeface="Times New Roman"/>
                <a:ea typeface="+mn-lt"/>
                <a:cs typeface="+mn-lt"/>
              </a:rPr>
              <a:t>для</a:t>
            </a:r>
            <a:r>
              <a:rPr lang="en-US" dirty="0">
                <a:latin typeface="Times New Roman"/>
                <a:ea typeface="+mn-lt"/>
                <a:cs typeface="+mn-lt"/>
              </a:rPr>
              <a:t> </a:t>
            </a:r>
            <a:r>
              <a:rPr lang="en-US" err="1">
                <a:latin typeface="Times New Roman"/>
                <a:ea typeface="+mn-lt"/>
                <a:cs typeface="+mn-lt"/>
              </a:rPr>
              <a:t>диалога</a:t>
            </a:r>
            <a:r>
              <a:rPr lang="en-US" dirty="0">
                <a:latin typeface="Times New Roman"/>
                <a:ea typeface="+mn-lt"/>
                <a:cs typeface="+mn-lt"/>
              </a:rPr>
              <a:t>, </a:t>
            </a:r>
            <a:r>
              <a:rPr lang="en-US" err="1">
                <a:latin typeface="Times New Roman"/>
                <a:ea typeface="+mn-lt"/>
                <a:cs typeface="+mn-lt"/>
              </a:rPr>
              <a:t>но</a:t>
            </a:r>
            <a:r>
              <a:rPr lang="en-US" dirty="0">
                <a:latin typeface="Times New Roman"/>
                <a:ea typeface="+mn-lt"/>
                <a:cs typeface="+mn-lt"/>
              </a:rPr>
              <a:t> </a:t>
            </a:r>
            <a:r>
              <a:rPr lang="en-US" err="1">
                <a:latin typeface="Times New Roman"/>
                <a:ea typeface="+mn-lt"/>
                <a:cs typeface="+mn-lt"/>
              </a:rPr>
              <a:t>не</a:t>
            </a:r>
            <a:r>
              <a:rPr lang="en-US" dirty="0">
                <a:latin typeface="Times New Roman"/>
                <a:ea typeface="+mn-lt"/>
                <a:cs typeface="+mn-lt"/>
              </a:rPr>
              <a:t> </a:t>
            </a:r>
            <a:r>
              <a:rPr lang="en-US" err="1">
                <a:latin typeface="Times New Roman"/>
                <a:ea typeface="+mn-lt"/>
                <a:cs typeface="+mn-lt"/>
              </a:rPr>
              <a:t>структурирован</a:t>
            </a:r>
            <a:r>
              <a:rPr lang="en-US" dirty="0">
                <a:latin typeface="Times New Roman"/>
                <a:ea typeface="+mn-lt"/>
                <a:cs typeface="+mn-lt"/>
              </a:rPr>
              <a:t> </a:t>
            </a:r>
            <a:r>
              <a:rPr lang="en-US" err="1">
                <a:latin typeface="Times New Roman"/>
                <a:ea typeface="+mn-lt"/>
                <a:cs typeface="+mn-lt"/>
              </a:rPr>
              <a:t>для</a:t>
            </a:r>
            <a:r>
              <a:rPr lang="en-US" dirty="0">
                <a:latin typeface="Times New Roman"/>
                <a:ea typeface="+mn-lt"/>
                <a:cs typeface="+mn-lt"/>
              </a:rPr>
              <a:t> </a:t>
            </a:r>
            <a:r>
              <a:rPr lang="en-US" err="1">
                <a:latin typeface="Times New Roman"/>
                <a:ea typeface="+mn-lt"/>
                <a:cs typeface="+mn-lt"/>
              </a:rPr>
              <a:t>целенаправленного</a:t>
            </a:r>
            <a:r>
              <a:rPr lang="en-US" dirty="0">
                <a:latin typeface="Times New Roman"/>
                <a:ea typeface="+mn-lt"/>
                <a:cs typeface="+mn-lt"/>
              </a:rPr>
              <a:t> </a:t>
            </a:r>
            <a:r>
              <a:rPr lang="en-US" err="1">
                <a:latin typeface="Times New Roman"/>
                <a:ea typeface="+mn-lt"/>
                <a:cs typeface="+mn-lt"/>
              </a:rPr>
              <a:t>обучения</a:t>
            </a:r>
            <a:r>
              <a:rPr lang="en-US" dirty="0">
                <a:latin typeface="Times New Roman"/>
                <a:ea typeface="+mn-lt"/>
                <a:cs typeface="+mn-lt"/>
              </a:rPr>
              <a:t>.</a:t>
            </a:r>
            <a:endParaRPr lang="en-US">
              <a:latin typeface="Times New Roman"/>
              <a:ea typeface="+mn-lt"/>
              <a:cs typeface="+mn-lt"/>
            </a:endParaRPr>
          </a:p>
          <a:p>
            <a:endParaRPr lang="en-US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77A76F4-1172-9005-0BB1-8753E1027073}"/>
              </a:ext>
            </a:extLst>
          </p:cNvPr>
          <p:cNvSpPr txBox="1"/>
          <p:nvPr/>
        </p:nvSpPr>
        <p:spPr>
          <a:xfrm>
            <a:off x="6224530" y="2712904"/>
            <a:ext cx="6096000" cy="466281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latin typeface="Times New Roman"/>
                <a:cs typeface="Times New Roman"/>
              </a:rPr>
              <a:t>✅ </a:t>
            </a:r>
            <a:r>
              <a:rPr lang="en-US" b="1" err="1">
                <a:latin typeface="Times New Roman"/>
                <a:cs typeface="Times New Roman"/>
              </a:rPr>
              <a:t>Уникальные</a:t>
            </a:r>
            <a:r>
              <a:rPr lang="en-US" b="1" dirty="0">
                <a:latin typeface="Times New Roman"/>
                <a:cs typeface="Times New Roman"/>
              </a:rPr>
              <a:t> </a:t>
            </a:r>
            <a:r>
              <a:rPr lang="en-US" b="1" err="1">
                <a:latin typeface="Times New Roman"/>
                <a:cs typeface="Times New Roman"/>
              </a:rPr>
              <a:t>Отличия</a:t>
            </a:r>
            <a:r>
              <a:rPr lang="en-US" b="1" dirty="0">
                <a:latin typeface="Times New Roman"/>
                <a:cs typeface="Times New Roman"/>
              </a:rPr>
              <a:t> </a:t>
            </a:r>
            <a:r>
              <a:rPr lang="en-US" b="1" err="1">
                <a:latin typeface="Times New Roman"/>
                <a:cs typeface="Times New Roman"/>
              </a:rPr>
              <a:t>SmartTutor</a:t>
            </a:r>
            <a:r>
              <a:rPr lang="en-US" b="1" dirty="0">
                <a:latin typeface="Times New Roman"/>
                <a:cs typeface="Times New Roman"/>
              </a:rPr>
              <a:t>:</a:t>
            </a:r>
            <a:endParaRPr lang="ru-RU"/>
          </a:p>
          <a:p>
            <a:pPr>
              <a:lnSpc>
                <a:spcPct val="150000"/>
              </a:lnSpc>
            </a:pPr>
            <a:r>
              <a:rPr lang="en-US" b="1" err="1">
                <a:latin typeface="Times New Roman"/>
                <a:cs typeface="Times New Roman"/>
              </a:rPr>
              <a:t>Всё</a:t>
            </a:r>
            <a:r>
              <a:rPr lang="en-US" b="1" dirty="0">
                <a:latin typeface="Times New Roman"/>
                <a:cs typeface="Times New Roman"/>
              </a:rPr>
              <a:t> в </a:t>
            </a:r>
            <a:r>
              <a:rPr lang="en-US" b="1" err="1">
                <a:latin typeface="Times New Roman"/>
                <a:cs typeface="Times New Roman"/>
              </a:rPr>
              <a:t>одном</a:t>
            </a:r>
            <a:r>
              <a:rPr lang="en-US" b="1" dirty="0">
                <a:latin typeface="Times New Roman"/>
                <a:cs typeface="Times New Roman"/>
              </a:rPr>
              <a:t> </a:t>
            </a:r>
            <a:r>
              <a:rPr lang="en-US" b="1" err="1">
                <a:latin typeface="Times New Roman"/>
                <a:cs typeface="Times New Roman"/>
              </a:rPr>
              <a:t>приложении</a:t>
            </a:r>
            <a:r>
              <a:rPr lang="en-US" b="1" dirty="0">
                <a:latin typeface="Times New Roman"/>
                <a:cs typeface="Times New Roman"/>
              </a:rPr>
              <a:t>: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Максимальное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удобство</a:t>
            </a:r>
            <a:r>
              <a:rPr lang="en-US" dirty="0">
                <a:latin typeface="Times New Roman"/>
                <a:cs typeface="Times New Roman"/>
              </a:rPr>
              <a:t> и </a:t>
            </a:r>
            <a:r>
              <a:rPr lang="en-US" err="1">
                <a:latin typeface="Times New Roman"/>
                <a:cs typeface="Times New Roman"/>
              </a:rPr>
              <a:t>доступность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всех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функций</a:t>
            </a:r>
            <a:r>
              <a:rPr lang="en-US" dirty="0">
                <a:latin typeface="Times New Roman"/>
                <a:cs typeface="Times New Roman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b="1" err="1">
                <a:latin typeface="Times New Roman"/>
                <a:cs typeface="Times New Roman"/>
              </a:rPr>
              <a:t>Обучение</a:t>
            </a:r>
            <a:r>
              <a:rPr lang="en-US" b="1" dirty="0">
                <a:latin typeface="Times New Roman"/>
                <a:cs typeface="Times New Roman"/>
              </a:rPr>
              <a:t> + </a:t>
            </a:r>
            <a:r>
              <a:rPr lang="en-US" b="1" err="1">
                <a:latin typeface="Times New Roman"/>
                <a:cs typeface="Times New Roman"/>
              </a:rPr>
              <a:t>Организация</a:t>
            </a:r>
            <a:r>
              <a:rPr lang="en-US" b="1" dirty="0">
                <a:latin typeface="Times New Roman"/>
                <a:cs typeface="Times New Roman"/>
              </a:rPr>
              <a:t>: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Идеальное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сочетание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для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продуктивного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студента</a:t>
            </a:r>
            <a:r>
              <a:rPr lang="en-US" dirty="0">
                <a:latin typeface="Times New Roman"/>
                <a:cs typeface="Times New Roman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b="1" err="1">
                <a:latin typeface="Times New Roman"/>
                <a:cs typeface="Times New Roman"/>
              </a:rPr>
              <a:t>История</a:t>
            </a:r>
            <a:r>
              <a:rPr lang="en-US" b="1" dirty="0">
                <a:latin typeface="Times New Roman"/>
                <a:cs typeface="Times New Roman"/>
              </a:rPr>
              <a:t>, </a:t>
            </a:r>
            <a:r>
              <a:rPr lang="en-US" b="1" err="1">
                <a:latin typeface="Times New Roman"/>
                <a:cs typeface="Times New Roman"/>
              </a:rPr>
              <a:t>заметки</a:t>
            </a:r>
            <a:r>
              <a:rPr lang="en-US" b="1" dirty="0">
                <a:latin typeface="Times New Roman"/>
                <a:cs typeface="Times New Roman"/>
              </a:rPr>
              <a:t>, </a:t>
            </a:r>
            <a:r>
              <a:rPr lang="en-US" b="1" err="1">
                <a:latin typeface="Times New Roman"/>
                <a:cs typeface="Times New Roman"/>
              </a:rPr>
              <a:t>прогресс</a:t>
            </a:r>
            <a:r>
              <a:rPr lang="en-US" b="1" dirty="0">
                <a:latin typeface="Times New Roman"/>
                <a:cs typeface="Times New Roman"/>
              </a:rPr>
              <a:t>: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Полный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контроль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над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вашим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учебным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путем</a:t>
            </a:r>
            <a:r>
              <a:rPr lang="en-US" dirty="0">
                <a:latin typeface="Times New Roman"/>
                <a:cs typeface="Times New Roman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b="1" err="1">
                <a:latin typeface="Times New Roman"/>
                <a:cs typeface="Times New Roman"/>
              </a:rPr>
              <a:t>Персонализированное</a:t>
            </a:r>
            <a:r>
              <a:rPr lang="en-US" b="1" dirty="0">
                <a:latin typeface="Times New Roman"/>
                <a:cs typeface="Times New Roman"/>
              </a:rPr>
              <a:t> </a:t>
            </a:r>
            <a:r>
              <a:rPr lang="en-US" b="1" err="1">
                <a:latin typeface="Times New Roman"/>
                <a:cs typeface="Times New Roman"/>
              </a:rPr>
              <a:t>общение</a:t>
            </a:r>
            <a:r>
              <a:rPr lang="en-US" b="1" dirty="0">
                <a:latin typeface="Times New Roman"/>
                <a:cs typeface="Times New Roman"/>
              </a:rPr>
              <a:t> с ИИ: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Адаптивное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обучение</a:t>
            </a:r>
            <a:r>
              <a:rPr lang="en-US" dirty="0">
                <a:latin typeface="Times New Roman"/>
                <a:cs typeface="Times New Roman"/>
              </a:rPr>
              <a:t>, </a:t>
            </a:r>
            <a:r>
              <a:rPr lang="en-US" err="1">
                <a:latin typeface="Times New Roman"/>
                <a:cs typeface="Times New Roman"/>
              </a:rPr>
              <a:t>подстроенное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под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вас</a:t>
            </a:r>
            <a:r>
              <a:rPr lang="en-US" dirty="0">
                <a:latin typeface="Times New Roman"/>
                <a:cs typeface="Times New Roman"/>
              </a:rPr>
              <a:t>.</a:t>
            </a:r>
          </a:p>
          <a:p>
            <a:endParaRPr lang="en-US"/>
          </a:p>
          <a:p>
            <a:endParaRPr lang="en-US"/>
          </a:p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452413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0B442AA-C000-2713-29A5-C97688A301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Times New Roman"/>
                <a:cs typeface="Times New Roman"/>
              </a:rPr>
              <a:t>Ключевой Функционал (MVP): Основа </a:t>
            </a:r>
            <a:r>
              <a:rPr lang="ru-RU" dirty="0" err="1">
                <a:latin typeface="Times New Roman"/>
                <a:cs typeface="Times New Roman"/>
              </a:rPr>
              <a:t>SmartTutor</a:t>
            </a:r>
            <a:endParaRPr lang="ru-RU" dirty="0">
              <a:latin typeface="Times New Roman"/>
              <a:cs typeface="Times New Roman"/>
            </a:endParaRPr>
          </a:p>
          <a:p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B71C8BE-C270-7EF2-B107-AD60FCB4C0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29566" y="1468916"/>
            <a:ext cx="9238434" cy="85380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ru-RU" dirty="0">
                <a:latin typeface="Times New Roman"/>
                <a:ea typeface="+mn-lt"/>
                <a:cs typeface="+mn-lt"/>
              </a:rPr>
              <a:t>Минимально жизнеспособный продукт (MVP) </a:t>
            </a:r>
            <a:r>
              <a:rPr lang="ru-RU" err="1">
                <a:latin typeface="Times New Roman"/>
                <a:ea typeface="+mn-lt"/>
                <a:cs typeface="+mn-lt"/>
              </a:rPr>
              <a:t>SmartTutor</a:t>
            </a:r>
            <a:r>
              <a:rPr lang="ru-RU" dirty="0">
                <a:latin typeface="Times New Roman"/>
                <a:ea typeface="+mn-lt"/>
                <a:cs typeface="+mn-lt"/>
              </a:rPr>
              <a:t> включает в себя необходимые функции для запуска и тестирования основных преимуществ приложения.</a:t>
            </a:r>
            <a:endParaRPr lang="ru-RU" dirty="0">
              <a:latin typeface="Times New Roman"/>
            </a:endParaRPr>
          </a:p>
          <a:p>
            <a:endParaRPr lang="ru-RU" dirty="0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FD5D836-EEE9-38AF-B651-22DE1005D3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C95FE-D127-45FD-87A0-5E57D2B62757}" type="datetime1">
              <a:t>28.01.2026</a:t>
            </a:fld>
            <a:endParaRPr lang="en-US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9335CF6-42C7-ACFB-E1D9-06727624E3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FD51FA4-2C46-F7A5-B9CF-055471BB24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6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1C56783-DAEB-C409-3E84-357A2C25C1FE}"/>
              </a:ext>
            </a:extLst>
          </p:cNvPr>
          <p:cNvSpPr txBox="1"/>
          <p:nvPr/>
        </p:nvSpPr>
        <p:spPr>
          <a:xfrm>
            <a:off x="771180" y="2483385"/>
            <a:ext cx="11218842" cy="535531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latin typeface="Times New Roman"/>
                <a:cs typeface="Times New Roman"/>
              </a:rPr>
              <a:t>🔐 </a:t>
            </a:r>
            <a:r>
              <a:rPr lang="en-US" b="1" err="1">
                <a:latin typeface="Times New Roman"/>
                <a:cs typeface="Times New Roman"/>
              </a:rPr>
              <a:t>Аутентификация</a:t>
            </a:r>
            <a:endParaRPr lang="ru-RU"/>
          </a:p>
          <a:p>
            <a:pPr>
              <a:lnSpc>
                <a:spcPct val="150000"/>
              </a:lnSpc>
            </a:pPr>
            <a:r>
              <a:rPr lang="en-US" dirty="0" err="1">
                <a:latin typeface="Times New Roman"/>
                <a:cs typeface="Times New Roman"/>
              </a:rPr>
              <a:t>Безопасный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вход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через</a:t>
            </a:r>
            <a:r>
              <a:rPr lang="en-US" dirty="0">
                <a:latin typeface="Times New Roman"/>
                <a:cs typeface="Times New Roman"/>
              </a:rPr>
              <a:t> Email/</a:t>
            </a:r>
            <a:r>
              <a:rPr lang="en-US" dirty="0" err="1">
                <a:latin typeface="Times New Roman"/>
                <a:cs typeface="Times New Roman"/>
              </a:rPr>
              <a:t>пароль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или</a:t>
            </a:r>
            <a:r>
              <a:rPr lang="en-US" dirty="0">
                <a:latin typeface="Times New Roman"/>
                <a:cs typeface="Times New Roman"/>
              </a:rPr>
              <a:t> Google </a:t>
            </a:r>
            <a:r>
              <a:rPr lang="en-US" dirty="0" err="1">
                <a:latin typeface="Times New Roman"/>
                <a:cs typeface="Times New Roman"/>
              </a:rPr>
              <a:t>для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быстрого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доступа</a:t>
            </a:r>
            <a:r>
              <a:rPr lang="en-US" dirty="0">
                <a:latin typeface="Times New Roman"/>
                <a:cs typeface="Times New Roman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b="1" dirty="0">
                <a:latin typeface="Times New Roman"/>
                <a:cs typeface="Times New Roman"/>
              </a:rPr>
              <a:t>💬 </a:t>
            </a:r>
            <a:r>
              <a:rPr lang="en-US" b="1" err="1">
                <a:latin typeface="Times New Roman"/>
                <a:cs typeface="Times New Roman"/>
              </a:rPr>
              <a:t>Чат</a:t>
            </a:r>
            <a:r>
              <a:rPr lang="en-US" b="1" dirty="0">
                <a:latin typeface="Times New Roman"/>
                <a:cs typeface="Times New Roman"/>
              </a:rPr>
              <a:t> с ИИ</a:t>
            </a:r>
          </a:p>
          <a:p>
            <a:pPr>
              <a:lnSpc>
                <a:spcPct val="150000"/>
              </a:lnSpc>
            </a:pPr>
            <a:r>
              <a:rPr lang="en-US" dirty="0" err="1">
                <a:latin typeface="Times New Roman"/>
                <a:cs typeface="Times New Roman"/>
              </a:rPr>
              <a:t>Мгновенные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ответы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на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вопросы</a:t>
            </a:r>
            <a:r>
              <a:rPr lang="en-US" dirty="0">
                <a:latin typeface="Times New Roman"/>
                <a:cs typeface="Times New Roman"/>
              </a:rPr>
              <a:t>, </a:t>
            </a:r>
            <a:r>
              <a:rPr lang="en-US" dirty="0" err="1">
                <a:latin typeface="Times New Roman"/>
                <a:cs typeface="Times New Roman"/>
              </a:rPr>
              <a:t>подробные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объяснения</a:t>
            </a:r>
            <a:r>
              <a:rPr lang="en-US" dirty="0">
                <a:latin typeface="Times New Roman"/>
                <a:cs typeface="Times New Roman"/>
              </a:rPr>
              <a:t> и </a:t>
            </a:r>
            <a:r>
              <a:rPr lang="en-US" dirty="0" err="1">
                <a:latin typeface="Times New Roman"/>
                <a:cs typeface="Times New Roman"/>
              </a:rPr>
              <a:t>ценные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подсказки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на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базе</a:t>
            </a:r>
            <a:r>
              <a:rPr lang="en-US" dirty="0">
                <a:latin typeface="Times New Roman"/>
                <a:cs typeface="Times New Roman"/>
              </a:rPr>
              <a:t> ChatGPT.</a:t>
            </a:r>
          </a:p>
          <a:p>
            <a:pPr>
              <a:lnSpc>
                <a:spcPct val="150000"/>
              </a:lnSpc>
            </a:pPr>
            <a:r>
              <a:rPr lang="en-US" b="1" dirty="0">
                <a:latin typeface="Times New Roman"/>
                <a:cs typeface="Times New Roman"/>
              </a:rPr>
              <a:t>📝 </a:t>
            </a:r>
            <a:r>
              <a:rPr lang="en-US" b="1" err="1">
                <a:latin typeface="Times New Roman"/>
                <a:cs typeface="Times New Roman"/>
              </a:rPr>
              <a:t>Заметки</a:t>
            </a:r>
            <a:endParaRPr lang="en-US" b="1">
              <a:latin typeface="Times New Roman"/>
              <a:cs typeface="Times New Roman"/>
            </a:endParaRPr>
          </a:p>
          <a:p>
            <a:pPr>
              <a:lnSpc>
                <a:spcPct val="150000"/>
              </a:lnSpc>
            </a:pPr>
            <a:r>
              <a:rPr lang="en-US" dirty="0" err="1">
                <a:latin typeface="Times New Roman"/>
                <a:cs typeface="Times New Roman"/>
              </a:rPr>
              <a:t>Интуитивно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понятный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интерфейс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для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создания</a:t>
            </a:r>
            <a:r>
              <a:rPr lang="en-US" dirty="0">
                <a:latin typeface="Times New Roman"/>
                <a:cs typeface="Times New Roman"/>
              </a:rPr>
              <a:t>, </a:t>
            </a:r>
            <a:r>
              <a:rPr lang="en-US" dirty="0" err="1">
                <a:latin typeface="Times New Roman"/>
                <a:cs typeface="Times New Roman"/>
              </a:rPr>
              <a:t>редактирования</a:t>
            </a:r>
            <a:r>
              <a:rPr lang="en-US" dirty="0">
                <a:latin typeface="Times New Roman"/>
                <a:cs typeface="Times New Roman"/>
              </a:rPr>
              <a:t> и </a:t>
            </a:r>
            <a:r>
              <a:rPr lang="en-US" dirty="0" err="1">
                <a:latin typeface="Times New Roman"/>
                <a:cs typeface="Times New Roman"/>
              </a:rPr>
              <a:t>поиска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учебных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заметок</a:t>
            </a:r>
            <a:r>
              <a:rPr lang="en-US" dirty="0">
                <a:latin typeface="Times New Roman"/>
                <a:cs typeface="Times New Roman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b="1" dirty="0">
                <a:latin typeface="Times New Roman"/>
                <a:cs typeface="Times New Roman"/>
              </a:rPr>
              <a:t>⏰ </a:t>
            </a:r>
            <a:r>
              <a:rPr lang="en-US" b="1" err="1">
                <a:latin typeface="Times New Roman"/>
                <a:cs typeface="Times New Roman"/>
              </a:rPr>
              <a:t>Напоминания</a:t>
            </a:r>
            <a:endParaRPr lang="en-US" b="1">
              <a:latin typeface="Times New Roman"/>
              <a:cs typeface="Times New Roman"/>
            </a:endParaRPr>
          </a:p>
          <a:p>
            <a:pPr>
              <a:lnSpc>
                <a:spcPct val="150000"/>
              </a:lnSpc>
            </a:pPr>
            <a:r>
              <a:rPr lang="en-US" dirty="0" err="1">
                <a:latin typeface="Times New Roman"/>
                <a:cs typeface="Times New Roman"/>
              </a:rPr>
              <a:t>Локальные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уведомления</a:t>
            </a:r>
            <a:r>
              <a:rPr lang="en-US" dirty="0">
                <a:latin typeface="Times New Roman"/>
                <a:cs typeface="Times New Roman"/>
              </a:rPr>
              <a:t>, </a:t>
            </a:r>
            <a:r>
              <a:rPr lang="en-US" dirty="0" err="1">
                <a:latin typeface="Times New Roman"/>
                <a:cs typeface="Times New Roman"/>
              </a:rPr>
              <a:t>которые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помогут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вам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быть</a:t>
            </a:r>
            <a:r>
              <a:rPr lang="en-US" dirty="0">
                <a:latin typeface="Times New Roman"/>
                <a:cs typeface="Times New Roman"/>
              </a:rPr>
              <a:t> в </a:t>
            </a:r>
            <a:r>
              <a:rPr lang="en-US" dirty="0" err="1">
                <a:latin typeface="Times New Roman"/>
                <a:cs typeface="Times New Roman"/>
              </a:rPr>
              <a:t>курсе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всех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дедлайнов</a:t>
            </a:r>
            <a:r>
              <a:rPr lang="en-US" dirty="0">
                <a:latin typeface="Times New Roman"/>
                <a:cs typeface="Times New Roman"/>
              </a:rPr>
              <a:t> и </a:t>
            </a:r>
            <a:r>
              <a:rPr lang="en-US" dirty="0" err="1">
                <a:latin typeface="Times New Roman"/>
                <a:cs typeface="Times New Roman"/>
              </a:rPr>
              <a:t>событий</a:t>
            </a:r>
            <a:r>
              <a:rPr lang="en-US" dirty="0">
                <a:latin typeface="Times New Roman"/>
                <a:cs typeface="Times New Roman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b="1" dirty="0">
                <a:latin typeface="Times New Roman"/>
                <a:cs typeface="Times New Roman"/>
              </a:rPr>
              <a:t>📊 </a:t>
            </a:r>
            <a:r>
              <a:rPr lang="en-US" b="1" err="1">
                <a:latin typeface="Times New Roman"/>
                <a:cs typeface="Times New Roman"/>
              </a:rPr>
              <a:t>Прогресс</a:t>
            </a:r>
            <a:endParaRPr lang="en-US" b="1">
              <a:latin typeface="Times New Roman"/>
              <a:cs typeface="Times New Roman"/>
            </a:endParaRPr>
          </a:p>
          <a:p>
            <a:pPr>
              <a:lnSpc>
                <a:spcPct val="150000"/>
              </a:lnSpc>
            </a:pPr>
            <a:r>
              <a:rPr lang="en-US" err="1">
                <a:latin typeface="Times New Roman"/>
                <a:cs typeface="Times New Roman"/>
              </a:rPr>
              <a:t>Отслеживание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вашей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активности</a:t>
            </a:r>
            <a:r>
              <a:rPr lang="en-US" dirty="0">
                <a:latin typeface="Times New Roman"/>
                <a:cs typeface="Times New Roman"/>
              </a:rPr>
              <a:t>, </a:t>
            </a:r>
            <a:r>
              <a:rPr lang="en-US" err="1">
                <a:latin typeface="Times New Roman"/>
                <a:cs typeface="Times New Roman"/>
              </a:rPr>
              <a:t>количества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выполненных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заданий</a:t>
            </a:r>
            <a:r>
              <a:rPr lang="en-US" dirty="0">
                <a:latin typeface="Times New Roman"/>
                <a:cs typeface="Times New Roman"/>
              </a:rPr>
              <a:t> и </a:t>
            </a:r>
            <a:r>
              <a:rPr lang="en-US" err="1">
                <a:latin typeface="Times New Roman"/>
                <a:cs typeface="Times New Roman"/>
              </a:rPr>
              <a:t>тестов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для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визуализации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успехов</a:t>
            </a:r>
            <a:r>
              <a:rPr lang="en-US" dirty="0">
                <a:latin typeface="Times New Roman"/>
                <a:cs typeface="Times New Roman"/>
              </a:rPr>
              <a:t>.</a:t>
            </a:r>
          </a:p>
          <a:p>
            <a:pPr>
              <a:lnSpc>
                <a:spcPct val="150000"/>
              </a:lnSpc>
            </a:pPr>
            <a:endParaRPr lang="en-US" dirty="0">
              <a:latin typeface="Times New Roman"/>
              <a:cs typeface="Times New Roman"/>
            </a:endParaRPr>
          </a:p>
          <a:p>
            <a:pPr>
              <a:lnSpc>
                <a:spcPct val="150000"/>
              </a:lnSpc>
            </a:pPr>
            <a:endParaRPr lang="en-US" dirty="0">
              <a:latin typeface="Times New Roman"/>
              <a:cs typeface="Times New Roman"/>
            </a:endParaRPr>
          </a:p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272729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EF1DB27-1257-D6AC-7CF9-2A64557F41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Times New Roman"/>
                <a:cs typeface="Times New Roman"/>
              </a:rPr>
              <a:t>Пользовательские Роли: Взаимодействие со </a:t>
            </a:r>
            <a:r>
              <a:rPr lang="ru-RU" err="1">
                <a:latin typeface="Times New Roman"/>
                <a:cs typeface="Times New Roman"/>
              </a:rPr>
              <a:t>SmartTutor</a:t>
            </a:r>
            <a:endParaRPr lang="ru-RU">
              <a:latin typeface="Times New Roman"/>
              <a:cs typeface="Times New Roman"/>
            </a:endParaRPr>
          </a:p>
          <a:p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15DBE8D-3DC3-E397-A5A2-A2DAC2DADA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8385" y="1707614"/>
            <a:ext cx="5648771" cy="3562122"/>
          </a:xfrm>
        </p:spPr>
        <p:txBody>
          <a:bodyPr vert="horz" lIns="91440" tIns="45720" rIns="91440" bIns="45720" rtlCol="0" anchor="t">
            <a:normAutofit fontScale="85000" lnSpcReduction="10000"/>
          </a:bodyPr>
          <a:lstStyle/>
          <a:p>
            <a:pPr>
              <a:lnSpc>
                <a:spcPct val="170000"/>
              </a:lnSpc>
            </a:pPr>
            <a:r>
              <a:rPr lang="ru-RU" dirty="0"/>
              <a:t>👨‍</a:t>
            </a:r>
            <a:r>
              <a:rPr lang="ru-RU" dirty="0">
                <a:latin typeface="Times New Roman"/>
                <a:cs typeface="Times New Roman"/>
              </a:rPr>
              <a:t>🎓 Студент</a:t>
            </a:r>
            <a:endParaRPr lang="ru-RU">
              <a:latin typeface="Times New Roman"/>
              <a:cs typeface="Times New Roman"/>
            </a:endParaRPr>
          </a:p>
          <a:p>
            <a:pPr>
              <a:lnSpc>
                <a:spcPct val="170000"/>
              </a:lnSpc>
            </a:pPr>
            <a:r>
              <a:rPr lang="ru-RU" dirty="0">
                <a:latin typeface="Times New Roman"/>
                <a:ea typeface="+mn-lt"/>
                <a:cs typeface="+mn-lt"/>
              </a:rPr>
              <a:t>Основной пользователь, активно взаимодействующий с ИИ и учебными материалами.</a:t>
            </a:r>
          </a:p>
          <a:p>
            <a:pPr>
              <a:lnSpc>
                <a:spcPct val="170000"/>
              </a:lnSpc>
            </a:pPr>
            <a:r>
              <a:rPr lang="ru-RU" dirty="0">
                <a:latin typeface="Times New Roman"/>
                <a:ea typeface="+mn-lt"/>
                <a:cs typeface="+mn-lt"/>
              </a:rPr>
              <a:t>Задаёт вопросы и получает развернутые ответы.</a:t>
            </a:r>
          </a:p>
          <a:p>
            <a:pPr>
              <a:lnSpc>
                <a:spcPct val="170000"/>
              </a:lnSpc>
            </a:pPr>
            <a:r>
              <a:rPr lang="ru-RU" dirty="0">
                <a:latin typeface="Times New Roman"/>
                <a:ea typeface="+mn-lt"/>
                <a:cs typeface="+mn-lt"/>
              </a:rPr>
              <a:t>Выполняет персонализированные задания и тесты.</a:t>
            </a:r>
          </a:p>
          <a:p>
            <a:pPr>
              <a:lnSpc>
                <a:spcPct val="170000"/>
              </a:lnSpc>
            </a:pPr>
            <a:r>
              <a:rPr lang="ru-RU" dirty="0">
                <a:latin typeface="Times New Roman"/>
                <a:ea typeface="+mn-lt"/>
                <a:cs typeface="+mn-lt"/>
              </a:rPr>
              <a:t>Ведёт и организует свои учебные заметки.</a:t>
            </a:r>
          </a:p>
          <a:p>
            <a:pPr>
              <a:lnSpc>
                <a:spcPct val="170000"/>
              </a:lnSpc>
            </a:pPr>
            <a:r>
              <a:rPr lang="ru-RU" dirty="0">
                <a:latin typeface="Times New Roman"/>
                <a:ea typeface="+mn-lt"/>
                <a:cs typeface="+mn-lt"/>
              </a:rPr>
              <a:t>Получает своевременные напоминания о важных событиях.</a:t>
            </a:r>
            <a:endParaRPr lang="ru-RU">
              <a:latin typeface="Times New Roman"/>
              <a:ea typeface="+mn-lt"/>
              <a:cs typeface="+mn-lt"/>
            </a:endParaRPr>
          </a:p>
          <a:p>
            <a:endParaRPr lang="ru-RU" dirty="0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768C0B8-5946-7D47-FAAD-3EA3743458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A287B8-2699-4DC0-B491-0F3E30809CBD}" type="datetime1">
              <a:t>28.01.2026</a:t>
            </a:fld>
            <a:endParaRPr lang="en-US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9A4F0BF-1C48-1E79-92C6-123A890B53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DB1B2DE-BAB1-490C-F887-ABD315235A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7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2EF9736-D517-8B0B-1922-B4474E5F051F}"/>
              </a:ext>
            </a:extLst>
          </p:cNvPr>
          <p:cNvSpPr txBox="1"/>
          <p:nvPr/>
        </p:nvSpPr>
        <p:spPr>
          <a:xfrm>
            <a:off x="6096000" y="1794831"/>
            <a:ext cx="6096000" cy="237757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1500" b="1" dirty="0">
                <a:latin typeface="Times New Roman"/>
                <a:cs typeface="Times New Roman"/>
              </a:rPr>
              <a:t>🛠 </a:t>
            </a:r>
            <a:r>
              <a:rPr lang="en-US" sz="1500" b="1" err="1">
                <a:latin typeface="Times New Roman"/>
                <a:cs typeface="Times New Roman"/>
              </a:rPr>
              <a:t>Администратор</a:t>
            </a:r>
            <a:endParaRPr lang="en-US" sz="1500" b="1">
              <a:latin typeface="Times New Roman"/>
              <a:cs typeface="Times New Roman"/>
            </a:endParaRPr>
          </a:p>
          <a:p>
            <a:pPr>
              <a:lnSpc>
                <a:spcPct val="150000"/>
              </a:lnSpc>
            </a:pPr>
            <a:r>
              <a:rPr lang="en-US" sz="1500" err="1">
                <a:latin typeface="Times New Roman"/>
                <a:cs typeface="Times New Roman"/>
              </a:rPr>
              <a:t>Обеспечивает</a:t>
            </a:r>
            <a:r>
              <a:rPr lang="en-US" sz="1500" dirty="0">
                <a:latin typeface="Times New Roman"/>
                <a:cs typeface="Times New Roman"/>
              </a:rPr>
              <a:t> </a:t>
            </a:r>
            <a:r>
              <a:rPr lang="en-US" sz="1500" err="1">
                <a:latin typeface="Times New Roman"/>
                <a:cs typeface="Times New Roman"/>
              </a:rPr>
              <a:t>бесперебойную</a:t>
            </a:r>
            <a:r>
              <a:rPr lang="en-US" sz="1500" dirty="0">
                <a:latin typeface="Times New Roman"/>
                <a:cs typeface="Times New Roman"/>
              </a:rPr>
              <a:t> </a:t>
            </a:r>
            <a:r>
              <a:rPr lang="en-US" sz="1500" err="1">
                <a:latin typeface="Times New Roman"/>
                <a:cs typeface="Times New Roman"/>
              </a:rPr>
              <a:t>работу</a:t>
            </a:r>
            <a:r>
              <a:rPr lang="en-US" sz="1500" dirty="0">
                <a:latin typeface="Times New Roman"/>
                <a:cs typeface="Times New Roman"/>
              </a:rPr>
              <a:t> и </a:t>
            </a:r>
            <a:r>
              <a:rPr lang="en-US" sz="1500" err="1">
                <a:latin typeface="Times New Roman"/>
                <a:cs typeface="Times New Roman"/>
              </a:rPr>
              <a:t>развитие</a:t>
            </a:r>
            <a:r>
              <a:rPr lang="en-US" sz="1500" dirty="0">
                <a:latin typeface="Times New Roman"/>
                <a:cs typeface="Times New Roman"/>
              </a:rPr>
              <a:t> </a:t>
            </a:r>
            <a:r>
              <a:rPr lang="en-US" sz="1500" err="1">
                <a:latin typeface="Times New Roman"/>
                <a:cs typeface="Times New Roman"/>
              </a:rPr>
              <a:t>платформы</a:t>
            </a:r>
            <a:r>
              <a:rPr lang="en-US" sz="1500" dirty="0">
                <a:latin typeface="Times New Roman"/>
                <a:cs typeface="Times New Roman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sz="1500" err="1">
                <a:latin typeface="Times New Roman"/>
                <a:cs typeface="Times New Roman"/>
              </a:rPr>
              <a:t>Управление</a:t>
            </a:r>
            <a:r>
              <a:rPr lang="en-US" sz="1500" dirty="0">
                <a:latin typeface="Times New Roman"/>
                <a:cs typeface="Times New Roman"/>
              </a:rPr>
              <a:t> </a:t>
            </a:r>
            <a:r>
              <a:rPr lang="en-US" sz="1500" err="1">
                <a:latin typeface="Times New Roman"/>
                <a:cs typeface="Times New Roman"/>
              </a:rPr>
              <a:t>базами</a:t>
            </a:r>
            <a:r>
              <a:rPr lang="en-US" sz="1500" dirty="0">
                <a:latin typeface="Times New Roman"/>
                <a:cs typeface="Times New Roman"/>
              </a:rPr>
              <a:t> </a:t>
            </a:r>
            <a:r>
              <a:rPr lang="en-US" sz="1500" err="1">
                <a:latin typeface="Times New Roman"/>
                <a:cs typeface="Times New Roman"/>
              </a:rPr>
              <a:t>данных</a:t>
            </a:r>
            <a:r>
              <a:rPr lang="en-US" sz="1500" dirty="0">
                <a:latin typeface="Times New Roman"/>
                <a:cs typeface="Times New Roman"/>
              </a:rPr>
              <a:t> </a:t>
            </a:r>
            <a:r>
              <a:rPr lang="en-US" sz="1500" err="1">
                <a:latin typeface="Times New Roman"/>
                <a:cs typeface="Times New Roman"/>
              </a:rPr>
              <a:t>пользователей</a:t>
            </a:r>
            <a:r>
              <a:rPr lang="en-US" sz="1500" dirty="0">
                <a:latin typeface="Times New Roman"/>
                <a:cs typeface="Times New Roman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sz="1500" err="1">
                <a:latin typeface="Times New Roman"/>
                <a:cs typeface="Times New Roman"/>
              </a:rPr>
              <a:t>Модерация</a:t>
            </a:r>
            <a:r>
              <a:rPr lang="en-US" sz="1500" dirty="0">
                <a:latin typeface="Times New Roman"/>
                <a:cs typeface="Times New Roman"/>
              </a:rPr>
              <a:t> </a:t>
            </a:r>
            <a:r>
              <a:rPr lang="en-US" sz="1500" err="1">
                <a:latin typeface="Times New Roman"/>
                <a:cs typeface="Times New Roman"/>
              </a:rPr>
              <a:t>контента</a:t>
            </a:r>
            <a:r>
              <a:rPr lang="en-US" sz="1500" dirty="0">
                <a:latin typeface="Times New Roman"/>
                <a:cs typeface="Times New Roman"/>
              </a:rPr>
              <a:t> и </a:t>
            </a:r>
            <a:r>
              <a:rPr lang="en-US" sz="1500" err="1">
                <a:latin typeface="Times New Roman"/>
                <a:cs typeface="Times New Roman"/>
              </a:rPr>
              <a:t>обратной</a:t>
            </a:r>
            <a:r>
              <a:rPr lang="en-US" sz="1500" dirty="0">
                <a:latin typeface="Times New Roman"/>
                <a:cs typeface="Times New Roman"/>
              </a:rPr>
              <a:t> </a:t>
            </a:r>
            <a:r>
              <a:rPr lang="en-US" sz="1500" err="1">
                <a:latin typeface="Times New Roman"/>
                <a:cs typeface="Times New Roman"/>
              </a:rPr>
              <a:t>связи</a:t>
            </a:r>
            <a:r>
              <a:rPr lang="en-US" sz="1500" dirty="0">
                <a:latin typeface="Times New Roman"/>
                <a:cs typeface="Times New Roman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sz="1500" err="1">
                <a:latin typeface="Times New Roman"/>
                <a:cs typeface="Times New Roman"/>
              </a:rPr>
              <a:t>Мониторинг</a:t>
            </a:r>
            <a:r>
              <a:rPr lang="en-US" sz="1500" dirty="0">
                <a:latin typeface="Times New Roman"/>
                <a:cs typeface="Times New Roman"/>
              </a:rPr>
              <a:t> </a:t>
            </a:r>
            <a:r>
              <a:rPr lang="en-US" sz="1500" err="1">
                <a:latin typeface="Times New Roman"/>
                <a:cs typeface="Times New Roman"/>
              </a:rPr>
              <a:t>производительности</a:t>
            </a:r>
            <a:r>
              <a:rPr lang="en-US" sz="1500" dirty="0">
                <a:latin typeface="Times New Roman"/>
                <a:cs typeface="Times New Roman"/>
              </a:rPr>
              <a:t> и </a:t>
            </a:r>
            <a:r>
              <a:rPr lang="en-US" sz="1500" err="1">
                <a:latin typeface="Times New Roman"/>
                <a:cs typeface="Times New Roman"/>
              </a:rPr>
              <a:t>безопасности</a:t>
            </a:r>
            <a:r>
              <a:rPr lang="en-US" sz="1500" dirty="0">
                <a:latin typeface="Times New Roman"/>
                <a:cs typeface="Times New Roman"/>
              </a:rPr>
              <a:t> </a:t>
            </a:r>
            <a:r>
              <a:rPr lang="en-US" sz="1500" err="1">
                <a:latin typeface="Times New Roman"/>
                <a:cs typeface="Times New Roman"/>
              </a:rPr>
              <a:t>системы</a:t>
            </a:r>
            <a:r>
              <a:rPr lang="en-US" sz="1500" dirty="0">
                <a:latin typeface="Times New Roman"/>
                <a:cs typeface="Times New Roman"/>
              </a:rPr>
              <a:t>.</a:t>
            </a:r>
          </a:p>
          <a:p>
            <a:endParaRPr lang="en-US"/>
          </a:p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976228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30B4DC7-58EC-36D2-7F93-0816C49FC5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Times New Roman"/>
                <a:cs typeface="Times New Roman"/>
              </a:rPr>
              <a:t>Стек Технологий: Инструменты Разработки</a:t>
            </a:r>
          </a:p>
          <a:p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9E25330-1E2C-132E-C27A-69B25C122E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29566" y="1799422"/>
            <a:ext cx="6851447" cy="85380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ru-RU" dirty="0">
                <a:latin typeface="Times New Roman"/>
                <a:ea typeface="+mn-lt"/>
                <a:cs typeface="+mn-lt"/>
              </a:rPr>
              <a:t>Мы выбрали современные и проверенные технологии для создания высокопроизводительного и надежного приложения.</a:t>
            </a:r>
            <a:endParaRPr lang="ru-RU" dirty="0">
              <a:latin typeface="Times New Roman"/>
            </a:endParaRPr>
          </a:p>
          <a:p>
            <a:endParaRPr lang="ru-RU" dirty="0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F8F41CA-9E5D-A432-FA16-33FB7B462C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E2663-5276-467F-BBDA-0E1FF2DE6886}" type="datetime1">
              <a:t>28.01.2026</a:t>
            </a:fld>
            <a:endParaRPr lang="en-US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4211AC9-8922-DC73-643B-92E6570009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66E9F97-BC18-F18E-B219-2BA2FC9315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8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7472E67-E6D7-55A4-D85C-3CE7046C7763}"/>
              </a:ext>
            </a:extLst>
          </p:cNvPr>
          <p:cNvSpPr txBox="1"/>
          <p:nvPr/>
        </p:nvSpPr>
        <p:spPr>
          <a:xfrm>
            <a:off x="688554" y="2969964"/>
            <a:ext cx="4480193" cy="355481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latin typeface="Times New Roman"/>
                <a:cs typeface="Times New Roman"/>
              </a:rPr>
              <a:t>Frontend</a:t>
            </a:r>
            <a:endParaRPr lang="ru-RU"/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b="1" dirty="0">
                <a:latin typeface="Times New Roman"/>
                <a:cs typeface="Times New Roman"/>
              </a:rPr>
              <a:t>Kotlin: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Основной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язык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разработки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для</a:t>
            </a:r>
            <a:r>
              <a:rPr lang="en-US" dirty="0">
                <a:latin typeface="Times New Roman"/>
                <a:cs typeface="Times New Roman"/>
              </a:rPr>
              <a:t> Android.</a:t>
            </a: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b="1" dirty="0">
                <a:latin typeface="Times New Roman"/>
                <a:cs typeface="Times New Roman"/>
              </a:rPr>
              <a:t>Android Studio: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Интегрированная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среда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разработки</a:t>
            </a:r>
            <a:r>
              <a:rPr lang="en-US" dirty="0">
                <a:latin typeface="Times New Roman"/>
                <a:cs typeface="Times New Roman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b="1" dirty="0">
                <a:latin typeface="Times New Roman"/>
                <a:cs typeface="Times New Roman"/>
              </a:rPr>
              <a:t>Jetpack Compose: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Современный</a:t>
            </a:r>
            <a:r>
              <a:rPr lang="en-US" dirty="0">
                <a:latin typeface="Times New Roman"/>
                <a:cs typeface="Times New Roman"/>
              </a:rPr>
              <a:t> UI-</a:t>
            </a:r>
            <a:r>
              <a:rPr lang="en-US" err="1">
                <a:latin typeface="Times New Roman"/>
                <a:cs typeface="Times New Roman"/>
              </a:rPr>
              <a:t>фреймворк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для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создания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интерфейсов</a:t>
            </a:r>
            <a:r>
              <a:rPr lang="en-US" dirty="0"/>
              <a:t>.</a:t>
            </a:r>
          </a:p>
          <a:p>
            <a:endParaRPr lang="en-US"/>
          </a:p>
          <a:p>
            <a:pPr algn="ctr"/>
            <a:endParaRPr lang="ru-R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3A3DE38-2D81-5AAB-796F-FF95693E1512}"/>
              </a:ext>
            </a:extLst>
          </p:cNvPr>
          <p:cNvSpPr txBox="1"/>
          <p:nvPr/>
        </p:nvSpPr>
        <p:spPr>
          <a:xfrm>
            <a:off x="4939229" y="2969964"/>
            <a:ext cx="3341784" cy="369331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latin typeface="Times New Roman"/>
                <a:cs typeface="Times New Roman"/>
              </a:rPr>
              <a:t>Backend / API</a:t>
            </a:r>
            <a:endParaRPr lang="ru-RU">
              <a:latin typeface="Times New Roman"/>
              <a:cs typeface="Times New Roman"/>
            </a:endParaRP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b="1" dirty="0">
                <a:latin typeface="Times New Roman"/>
                <a:cs typeface="Times New Roman"/>
              </a:rPr>
              <a:t>OpenAI API: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Для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интеграции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мощных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моделей</a:t>
            </a:r>
            <a:r>
              <a:rPr lang="en-US" dirty="0">
                <a:latin typeface="Times New Roman"/>
                <a:cs typeface="Times New Roman"/>
              </a:rPr>
              <a:t> ChatGPT.</a:t>
            </a: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b="1" dirty="0">
                <a:latin typeface="Times New Roman"/>
                <a:cs typeface="Times New Roman"/>
              </a:rPr>
              <a:t>Firebase / MySQL: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Гибкие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решения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для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хранения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данных</a:t>
            </a:r>
            <a:r>
              <a:rPr lang="en-US" dirty="0">
                <a:latin typeface="Times New Roman"/>
                <a:cs typeface="Times New Roman"/>
              </a:rPr>
              <a:t>.</a:t>
            </a:r>
          </a:p>
          <a:p>
            <a:pPr>
              <a:lnSpc>
                <a:spcPct val="150000"/>
              </a:lnSpc>
            </a:pPr>
            <a:endParaRPr lang="en-US" dirty="0">
              <a:latin typeface="Times New Roman"/>
              <a:cs typeface="Times New Roman"/>
            </a:endParaRPr>
          </a:p>
          <a:p>
            <a:pPr algn="ctr"/>
            <a:endParaRPr lang="ru-RU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BC18FBD-5060-8C89-8E1E-94C2DD094BA8}"/>
              </a:ext>
            </a:extLst>
          </p:cNvPr>
          <p:cNvSpPr txBox="1"/>
          <p:nvPr/>
        </p:nvSpPr>
        <p:spPr>
          <a:xfrm>
            <a:off x="8464627" y="2969963"/>
            <a:ext cx="3341784" cy="438581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err="1">
                <a:latin typeface="Times New Roman"/>
                <a:cs typeface="Times New Roman"/>
              </a:rPr>
              <a:t>Инструменты</a:t>
            </a:r>
            <a:endParaRPr lang="en-US" b="1">
              <a:latin typeface="Times New Roman"/>
              <a:cs typeface="Times New Roman"/>
            </a:endParaRP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b="1" dirty="0">
                <a:latin typeface="Times New Roman"/>
                <a:cs typeface="Times New Roman"/>
              </a:rPr>
              <a:t>GitHub + GitHub Actions: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Для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контроля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версий</a:t>
            </a:r>
            <a:r>
              <a:rPr lang="en-US" dirty="0">
                <a:latin typeface="Times New Roman"/>
                <a:cs typeface="Times New Roman"/>
              </a:rPr>
              <a:t> и </a:t>
            </a:r>
            <a:r>
              <a:rPr lang="en-US" err="1">
                <a:latin typeface="Times New Roman"/>
                <a:cs typeface="Times New Roman"/>
              </a:rPr>
              <a:t>автоматизации</a:t>
            </a:r>
            <a:r>
              <a:rPr lang="en-US" dirty="0">
                <a:latin typeface="Times New Roman"/>
                <a:cs typeface="Times New Roman"/>
              </a:rPr>
              <a:t> CI/CD.</a:t>
            </a: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b="1" dirty="0">
                <a:latin typeface="Times New Roman"/>
                <a:cs typeface="Times New Roman"/>
              </a:rPr>
              <a:t>Figma: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Для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прототипирования</a:t>
            </a:r>
            <a:r>
              <a:rPr lang="en-US" dirty="0">
                <a:latin typeface="Times New Roman"/>
                <a:cs typeface="Times New Roman"/>
              </a:rPr>
              <a:t> и </a:t>
            </a:r>
            <a:r>
              <a:rPr lang="en-US" err="1">
                <a:latin typeface="Times New Roman"/>
                <a:cs typeface="Times New Roman"/>
              </a:rPr>
              <a:t>дизайна</a:t>
            </a:r>
            <a:r>
              <a:rPr lang="en-US" dirty="0">
                <a:latin typeface="Times New Roman"/>
                <a:cs typeface="Times New Roman"/>
              </a:rPr>
              <a:t> UI/UX.</a:t>
            </a: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b="1" dirty="0">
                <a:latin typeface="Times New Roman"/>
                <a:cs typeface="Times New Roman"/>
              </a:rPr>
              <a:t>Postman: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Для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тестирования</a:t>
            </a:r>
            <a:r>
              <a:rPr lang="en-US" dirty="0">
                <a:latin typeface="Times New Roman"/>
                <a:cs typeface="Times New Roman"/>
              </a:rPr>
              <a:t> API.</a:t>
            </a:r>
          </a:p>
          <a:p>
            <a:endParaRPr lang="en-US"/>
          </a:p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517179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C086504-1E49-055A-78E8-89BF8DB873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Times New Roman"/>
                <a:cs typeface="Times New Roman"/>
              </a:rPr>
              <a:t>UI / UX Концепция: Продуманный Дизайн</a:t>
            </a:r>
          </a:p>
          <a:p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1D5BF5B-AB89-146E-96B6-1850774057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5421" y="2166651"/>
            <a:ext cx="5694676" cy="3810000"/>
          </a:xfrm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pPr>
              <a:lnSpc>
                <a:spcPct val="150000"/>
              </a:lnSpc>
            </a:pPr>
            <a:r>
              <a:rPr lang="ru-RU" dirty="0">
                <a:latin typeface="Times New Roman"/>
                <a:cs typeface="Times New Roman"/>
              </a:rPr>
              <a:t>🎨 Дизайн-Принципы:</a:t>
            </a:r>
            <a:endParaRPr lang="ru-RU"/>
          </a:p>
          <a:p>
            <a:pPr>
              <a:lnSpc>
                <a:spcPct val="150000"/>
              </a:lnSpc>
            </a:pPr>
            <a:r>
              <a:rPr lang="ru-RU" b="1" dirty="0">
                <a:latin typeface="Times New Roman"/>
                <a:ea typeface="+mn-lt"/>
                <a:cs typeface="+mn-lt"/>
              </a:rPr>
              <a:t>Минималистичный дизайн:</a:t>
            </a:r>
            <a:r>
              <a:rPr lang="ru-RU" dirty="0">
                <a:latin typeface="Times New Roman"/>
                <a:ea typeface="+mn-lt"/>
                <a:cs typeface="+mn-lt"/>
              </a:rPr>
              <a:t> Чистый и ненавязчивый интерфейс, сосредоточенный на контенте.</a:t>
            </a:r>
            <a:endParaRPr lang="ru-RU">
              <a:latin typeface="Times New Roman"/>
              <a:cs typeface="Times New Roman"/>
            </a:endParaRPr>
          </a:p>
          <a:p>
            <a:pPr>
              <a:lnSpc>
                <a:spcPct val="150000"/>
              </a:lnSpc>
            </a:pPr>
            <a:r>
              <a:rPr lang="ru-RU" b="1" dirty="0">
                <a:latin typeface="Times New Roman"/>
                <a:ea typeface="+mn-lt"/>
                <a:cs typeface="+mn-lt"/>
              </a:rPr>
              <a:t>Удобство для мобильных устройств:</a:t>
            </a:r>
            <a:r>
              <a:rPr lang="ru-RU" dirty="0">
                <a:latin typeface="Times New Roman"/>
                <a:ea typeface="+mn-lt"/>
                <a:cs typeface="+mn-lt"/>
              </a:rPr>
              <a:t> Адаптивность и легкость использования на ходу.</a:t>
            </a:r>
            <a:endParaRPr lang="ru-RU">
              <a:latin typeface="Times New Roman"/>
              <a:cs typeface="Times New Roman"/>
            </a:endParaRPr>
          </a:p>
          <a:p>
            <a:pPr>
              <a:lnSpc>
                <a:spcPct val="150000"/>
              </a:lnSpc>
            </a:pPr>
            <a:r>
              <a:rPr lang="ru-RU" b="1" dirty="0">
                <a:latin typeface="Times New Roman"/>
                <a:ea typeface="+mn-lt"/>
                <a:cs typeface="+mn-lt"/>
              </a:rPr>
              <a:t>Карточный интерфейс:</a:t>
            </a:r>
            <a:r>
              <a:rPr lang="ru-RU" dirty="0">
                <a:latin typeface="Times New Roman"/>
                <a:ea typeface="+mn-lt"/>
                <a:cs typeface="+mn-lt"/>
              </a:rPr>
              <a:t> Визуальное разделение информации для лучшего восприятия.</a:t>
            </a:r>
            <a:endParaRPr lang="ru-RU">
              <a:latin typeface="Times New Roman"/>
              <a:cs typeface="Times New Roman"/>
            </a:endParaRPr>
          </a:p>
          <a:p>
            <a:pPr>
              <a:lnSpc>
                <a:spcPct val="150000"/>
              </a:lnSpc>
            </a:pPr>
            <a:r>
              <a:rPr lang="ru-RU" b="1" dirty="0">
                <a:latin typeface="Times New Roman"/>
                <a:ea typeface="+mn-lt"/>
                <a:cs typeface="+mn-lt"/>
              </a:rPr>
              <a:t>Крупные кнопки:</a:t>
            </a:r>
            <a:r>
              <a:rPr lang="ru-RU" dirty="0">
                <a:latin typeface="Times New Roman"/>
                <a:ea typeface="+mn-lt"/>
                <a:cs typeface="+mn-lt"/>
              </a:rPr>
              <a:t> Легкое взаимодействие с элементами управления.</a:t>
            </a:r>
            <a:endParaRPr lang="ru-RU" dirty="0">
              <a:latin typeface="Times New Roman"/>
              <a:cs typeface="Times New Roman"/>
            </a:endParaRP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51875EB-1C47-D77A-C488-D161A43BDF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83947-7073-4B98-9C03-7A9F1FDAD663}" type="datetime1">
              <a:t>28.01.2026</a:t>
            </a:fld>
            <a:endParaRPr lang="en-US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5D6FA31-A4AE-1E19-B073-69D36DAF02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C858192-6926-D48B-9478-E43C0D518B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9</a:t>
            </a:fld>
            <a:endParaRPr lang="en-US" dirty="0"/>
          </a:p>
        </p:txBody>
      </p:sp>
      <p:pic>
        <p:nvPicPr>
          <p:cNvPr id="7" name="Рисунок 6" descr="Изображение выглядит как текст, электроника, снимок экрана, Мобильный телефон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F6E25A57-60FF-69F2-88A2-BCBC3C3043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3661" y="2081561"/>
            <a:ext cx="1806216" cy="3977269"/>
          </a:xfrm>
          <a:prstGeom prst="rect">
            <a:avLst/>
          </a:prstGeom>
        </p:spPr>
      </p:pic>
      <p:pic>
        <p:nvPicPr>
          <p:cNvPr id="11" name="Рисунок 10" descr="Изображение выглядит как текст, электроника, снимок экрана, Мобильный телефон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2D0DB7E4-94AF-7FB3-ACDF-2214CF3D19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2805" y="2081560"/>
            <a:ext cx="1802782" cy="4107367"/>
          </a:xfrm>
          <a:prstGeom prst="rect">
            <a:avLst/>
          </a:prstGeom>
        </p:spPr>
      </p:pic>
      <p:pic>
        <p:nvPicPr>
          <p:cNvPr id="12" name="Рисунок 11" descr="Изображение выглядит как текст, снимок экрана, Мобильный телефон, мультимеди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2812D67F-D996-1D84-7E8E-98D4558961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09802" y="2081561"/>
            <a:ext cx="1868688" cy="4107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10285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Архитектура приложения</a:t>
            </a:r>
            <a:br>
              <a:rPr lang="ru-RU" b="0" dirty="0"/>
            </a:br>
            <a:endParaRPr lang="ru-RU" dirty="0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6F3552-48DD-4819-AC12-61B37FFBFA07}" type="datetime1">
              <a:rPr lang="en-US" smtClean="0"/>
              <a:t>1/28/2026</a:t>
            </a:fld>
            <a:endParaRPr lang="en-US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smtClean="0"/>
              <a:t>10</a:t>
            </a:fld>
            <a:endParaRPr lang="en-US" dirty="0"/>
          </a:p>
        </p:txBody>
      </p:sp>
      <p:sp>
        <p:nvSpPr>
          <p:cNvPr id="8" name="Прямоугольник 7"/>
          <p:cNvSpPr/>
          <p:nvPr/>
        </p:nvSpPr>
        <p:spPr>
          <a:xfrm>
            <a:off x="367662" y="1803023"/>
            <a:ext cx="7579854" cy="41960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Клиентская часть (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Frontend)</a:t>
            </a:r>
            <a:b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Firebase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обеспечивает масштабируемую, безопасную и легко управляемую инфраструктуру: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Firebase Authentication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Аутентификация через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email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/пароль,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Google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Apple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Поддержка анонимных сессий для быстрого старта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Интеграция с правилами безопасности в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Firestore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</a:pP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Firebase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Storage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Хранение загруженных студентами изображений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Интеграция с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Cloud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Functions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для автоматической обработки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6" name="Объект 15" descr="Изображение выглядит как текст, снимок экрана, программное обеспечение, Мультимедийное программное обеспечен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E74FFC72-B789-AC87-31CC-4FBE712B5B7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805974" y="1050073"/>
            <a:ext cx="2226422" cy="5417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24194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A54BDFB-78B3-1EAA-8288-6A7FC1A9EB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9566" y="1363675"/>
            <a:ext cx="9238434" cy="857559"/>
          </a:xfrm>
        </p:spPr>
        <p:txBody>
          <a:bodyPr/>
          <a:lstStyle/>
          <a:p>
            <a:pPr algn="ctr"/>
            <a:r>
              <a:rPr lang="ru-RU" b="0" dirty="0"/>
              <a:t>Вывод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A6A4F3C-B0FB-C27C-3BB0-AB0E5D88E2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SmartTutor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это не просто чат-бот, а умный учебный компаньон, который:</a:t>
            </a:r>
          </a:p>
          <a:p>
            <a:pPr marL="56007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Делает обучение персонализированным</a:t>
            </a:r>
          </a:p>
          <a:p>
            <a:pPr marL="56007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Экономит время студентов и преподавателей</a:t>
            </a:r>
          </a:p>
          <a:p>
            <a:pPr marL="56007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Использует передовые ИИ-технологии ответственно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Проект демонстрирует потенциал ИИ в образовании и готов к масштабированию</a:t>
            </a:r>
          </a:p>
          <a:p>
            <a:endParaRPr lang="ru-RU" dirty="0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375A014-F123-CA8C-68F3-494DA50BE7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E6A1D9-73F3-498D-A46D-CAEABE8A0E75}" type="datetime1">
              <a:t>28.01.2026</a:t>
            </a:fld>
            <a:endParaRPr lang="en-US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098300E-1C2A-7849-023B-0131FDC0C9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536D2F9-901A-1BF2-EDE1-649F9AD6A7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8481113"/>
      </p:ext>
    </p:extLst>
  </p:cSld>
  <p:clrMapOvr>
    <a:masterClrMapping/>
  </p:clrMapOvr>
</p:sld>
</file>

<file path=ppt/theme/theme1.xml><?xml version="1.0" encoding="utf-8"?>
<a:theme xmlns:a="http://schemas.openxmlformats.org/drawingml/2006/main" name="PortalVTI">
  <a:themeElements>
    <a:clrScheme name="PortalVTI">
      <a:dk1>
        <a:sysClr val="windowText" lastClr="000000"/>
      </a:dk1>
      <a:lt1>
        <a:sysClr val="window" lastClr="FFFFFF"/>
      </a:lt1>
      <a:dk2>
        <a:srgbClr val="051618"/>
      </a:dk2>
      <a:lt2>
        <a:srgbClr val="E8E8DF"/>
      </a:lt2>
      <a:accent1>
        <a:srgbClr val="2D714C"/>
      </a:accent1>
      <a:accent2>
        <a:srgbClr val="1F7985"/>
      </a:accent2>
      <a:accent3>
        <a:srgbClr val="0D6756"/>
      </a:accent3>
      <a:accent4>
        <a:srgbClr val="40945E"/>
      </a:accent4>
      <a:accent5>
        <a:srgbClr val="389896"/>
      </a:accent5>
      <a:accent6>
        <a:srgbClr val="64924A"/>
      </a:accent6>
      <a:hlink>
        <a:srgbClr val="1F855C"/>
      </a:hlink>
      <a:folHlink>
        <a:srgbClr val="227390"/>
      </a:folHlink>
    </a:clrScheme>
    <a:fontScheme name="PortalVTI">
      <a:majorFont>
        <a:latin typeface="Trade Gothic Next Cond"/>
        <a:ea typeface=""/>
        <a:cs typeface=""/>
      </a:majorFont>
      <a:minorFont>
        <a:latin typeface="Trade Gothic Next Light"/>
        <a:ea typeface=""/>
        <a:cs typeface=""/>
      </a:minorFont>
    </a:fontScheme>
    <a:fmtScheme name="PortalVTI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ortalVTI" id="{E3A4BB4D-5227-4A6D-99D3-DBAB0FE4C68F}" vid="{BE515EFD-5A7A-4BFE-BE06-A21DB8499CD2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746</Words>
  <Application>Microsoft Office PowerPoint</Application>
  <PresentationFormat>Широкоэкранный</PresentationFormat>
  <Paragraphs>139</Paragraphs>
  <Slides>11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2" baseType="lpstr">
      <vt:lpstr>PortalVTI</vt:lpstr>
      <vt:lpstr>SmartTutor: Ваш Персональный ИИ-Помощник в Обучении </vt:lpstr>
      <vt:lpstr>Актуальность Проблемы:  </vt:lpstr>
      <vt:lpstr>SmartTutor: Инновационная Идея Проекта </vt:lpstr>
      <vt:lpstr>Целевая Аудитория: Кому Поможет SmartTutor? </vt:lpstr>
      <vt:lpstr>SmartTutor: Отличия от Аналогов </vt:lpstr>
      <vt:lpstr>Ключевой Функционал (MVP): Основа SmartTutor </vt:lpstr>
      <vt:lpstr>Пользовательские Роли: Взаимодействие со SmartTutor </vt:lpstr>
      <vt:lpstr>Стек Технологий: Инструменты Разработки </vt:lpstr>
      <vt:lpstr>UI / UX Концепция: Продуманный Дизайн </vt:lpstr>
      <vt:lpstr>Архитектура приложения </vt:lpstr>
      <vt:lpstr>Вывод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SmartTutor: Ваш Персональный ИИ-Помощник в Обучении </dc:title>
  <dc:creator/>
  <cp:lastModifiedBy>Student</cp:lastModifiedBy>
  <cp:revision>163</cp:revision>
  <dcterms:created xsi:type="dcterms:W3CDTF">2025-12-20T04:41:24Z</dcterms:created>
  <dcterms:modified xsi:type="dcterms:W3CDTF">2026-01-28T13:06:02Z</dcterms:modified>
</cp:coreProperties>
</file>